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7" r:id="rId2"/>
    <p:sldId id="267" r:id="rId3"/>
    <p:sldId id="259" r:id="rId4"/>
    <p:sldId id="260" r:id="rId5"/>
    <p:sldId id="261" r:id="rId6"/>
    <p:sldId id="270" r:id="rId7"/>
    <p:sldId id="262" r:id="rId8"/>
    <p:sldId id="263" r:id="rId9"/>
    <p:sldId id="266" r:id="rId10"/>
    <p:sldId id="265" r:id="rId11"/>
    <p:sldId id="273" r:id="rId12"/>
    <p:sldId id="272" r:id="rId13"/>
    <p:sldId id="274" r:id="rId14"/>
    <p:sldId id="268" r:id="rId15"/>
    <p:sldId id="258" r:id="rId16"/>
    <p:sldId id="275" r:id="rId17"/>
    <p:sldId id="276" r:id="rId18"/>
    <p:sldId id="277" r:id="rId19"/>
    <p:sldId id="264" r:id="rId20"/>
    <p:sldId id="278" r:id="rId21"/>
    <p:sldId id="279" r:id="rId22"/>
    <p:sldId id="280" r:id="rId23"/>
    <p:sldId id="282" r:id="rId24"/>
    <p:sldId id="283" r:id="rId25"/>
    <p:sldId id="284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044" autoAdjust="0"/>
  </p:normalViewPr>
  <p:slideViewPr>
    <p:cSldViewPr snapToGrid="0">
      <p:cViewPr varScale="1">
        <p:scale>
          <a:sx n="114" d="100"/>
          <a:sy n="114" d="100"/>
        </p:scale>
        <p:origin x="2443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29F8465-210A-4D53-8C04-423CCB32EC6E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F9CAD0-2326-4FC3-8EBF-249327EF662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36117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Finish in 15-20 mins (Till LED Circuit)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879AC3-CC04-4AD1-9947-3E7912F4EFF9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1588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>
              <a:latin typeface="Poppins Medium" panose="00000600000000000000" pitchFamily="2" charset="0"/>
              <a:cs typeface="Poppins Medium" panose="00000600000000000000" pitchFamily="2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879AC3-CC04-4AD1-9947-3E7912F4EFF9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79281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879AC3-CC04-4AD1-9947-3E7912F4EFF9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01428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Quite convenient for simulating simple projects</a:t>
            </a:r>
          </a:p>
          <a:p>
            <a:r>
              <a:rPr lang="en-GB" dirty="0"/>
              <a:t>There are a few sample projects to see and play around with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879AC3-CC04-4AD1-9947-3E7912F4EFF9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56773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Quite convenient for simulating simple projects</a:t>
            </a:r>
          </a:p>
          <a:p>
            <a:r>
              <a:rPr lang="en-GB" dirty="0"/>
              <a:t>There are a few sample projects to see and play around with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879AC3-CC04-4AD1-9947-3E7912F4EFF9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56773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For session 2, introduce potentiometer and use analogue read for serial write. Button for FSM?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8879AC3-CC04-4AD1-9947-3E7912F4EFF9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5689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5E9F40-6B23-4C42-3BD3-18845E7D59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CF139D-FA51-5FFE-EAEB-B0B59F4DE4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078CF-52F4-FD1C-1649-AEBF1458F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A6D67-92D9-4568-A4A6-397D7F4833C9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51D92-1600-5B45-28DE-7EDAB6C44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A58E08-6E1D-7E82-F43C-8815376D6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CCBAC-0B56-446C-8AF2-8878DB892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2633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EB731-7A2E-804A-F46E-F1B4949DA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B83E4-F37F-2649-E6B4-02A4620AFE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79FD0E-26ED-AD9D-3B0A-D288C695E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A6D67-92D9-4568-A4A6-397D7F4833C9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05E29-7200-1BD8-56CE-636C09C350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E98CA-0663-B061-DECD-F142137943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CCBAC-0B56-446C-8AF2-8878DB892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043246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1A628-C072-21E2-32BA-9DF705F37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F514FC-40DA-7C93-50A6-EE86317743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BEE21-DFBC-9352-66F6-2F87CBBE01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A6D67-92D9-4568-A4A6-397D7F4833C9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F0C0FC-CF59-F6C8-1E7A-6215C16F2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D8F129-AF52-B9C5-63D4-F2D911D0C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CCBAC-0B56-446C-8AF2-8878DB892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70489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D0BEC-8E92-8597-E088-F6E23ACD52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E8341-7665-1563-4E0A-AF8242ED58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09BC38-AE64-B1C9-42AF-EF16EA0BB5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25D08D-F955-B06C-B362-B8F765511D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A6D67-92D9-4568-A4A6-397D7F4833C9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A1D308-6EBC-7C35-9197-282E829E6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80E05E-6F7B-DA93-19CF-83FC04989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CCBAC-0B56-446C-8AF2-8878DB892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7741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029CE-C94A-0174-6CD9-6C82C7AAD6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4DE8DC-D1FC-A7FF-ECCC-DE17283302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E841E8-9AAF-564D-38A9-36380EEADE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A93687D-2076-DF67-3FFC-317D9488A2A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CF86CE-FD75-3685-BF8B-2263AC160A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35B6600-1143-E7DE-B0E4-92696FA73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A6D67-92D9-4568-A4A6-397D7F4833C9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872C6C7-C4DE-67EC-7B51-A37C9FC39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30D462-419F-1899-4D2C-B6465E4CE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CCBAC-0B56-446C-8AF2-8878DB892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6481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B90F92-C264-482C-0A06-D352675E61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14308D4-DC44-F007-5485-1DC9A1702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A6D67-92D9-4568-A4A6-397D7F4833C9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17D7A03-6F89-BDFC-7D15-CCFD8F6D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3996D7-53E9-24F6-D795-B465FBEE72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CCBAC-0B56-446C-8AF2-8878DB892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5906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0EBD1E-F0D8-DDB5-217F-D3FE95DAE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A6D67-92D9-4568-A4A6-397D7F4833C9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8F85173-EAF3-3796-389E-DF7724CE8C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A89CE3A-6242-40A1-255D-28ED82384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CCBAC-0B56-446C-8AF2-8878DB892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5133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AAB5F-4E87-9DC9-50AC-4257DEC11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F61523-EFFF-BCDC-C38E-66737222D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966645-5EDF-2ADC-A010-AF591CC0F9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9D2FCE-2BD4-8C6B-BD69-733A4A0B9B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A6D67-92D9-4568-A4A6-397D7F4833C9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A2E992-E36B-5508-5B23-DAB50D31B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FDF63F-72B8-0A20-561D-7FB231400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CCBAC-0B56-446C-8AF2-8878DB892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70873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E5141-CB52-6AA2-206C-955143CA53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59CBBEA-7617-D415-8F09-8F69877656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049CE0-79D4-126F-1F6F-0EFC1ECCEE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916CB5-E19E-9758-77BE-01614C3AE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A6D67-92D9-4568-A4A6-397D7F4833C9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54774B-4DEB-F62D-EE23-DA9C2148E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A091D3-7F13-E107-5E7E-6263511B0A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CCBAC-0B56-446C-8AF2-8878DB892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795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A0A45-7584-B7B3-3FF2-6304F5A08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17D61F-1F18-3845-C634-AA6B9E4525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239A0-7928-D8E7-F6B7-C79C96B91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A6D67-92D9-4568-A4A6-397D7F4833C9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A14AA5-91DF-AC3A-4D4E-93D1C2DEC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2679A-60FA-4C21-B7CE-9AB662D1F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CCBAC-0B56-446C-8AF2-8878DB892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52448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E93C550-1013-8384-56B1-AC27113808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918E5C-3719-C33C-C1F8-8A92A72333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5DDC0-00AA-2B19-6C71-B1DBB255B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A6D67-92D9-4568-A4A6-397D7F4833C9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81826E-1A50-8E2D-64AB-BAA7365ED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7096-17AE-E354-42C7-10D470156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6CCBAC-0B56-446C-8AF2-8878DB892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35655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F843D38-81C5-C97F-5959-15F64B45DF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DF218B-609D-53F3-41B5-39FA593633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66A587-919E-CAF9-6BDE-7DE81E5499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8A6D67-92D9-4568-A4A6-397D7F4833C9}" type="datetimeFigureOut">
              <a:rPr lang="en-GB" smtClean="0"/>
              <a:t>12/10/2025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F64863-AF66-245C-6A3E-C585CED8CB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57F5BB-0C6D-8189-0B44-FA5A185DD4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6CCBAC-0B56-446C-8AF2-8878DB892E1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30564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beta.flemingsociety.com/arduino-workshop/" TargetMode="Externa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25A80DCC-A066-F2FF-06B0-B7FD9F9DEE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835" y="1481417"/>
            <a:ext cx="7790330" cy="38951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977195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4">
            <a:extLst>
              <a:ext uri="{FF2B5EF4-FFF2-40B4-BE49-F238E27FC236}">
                <a16:creationId xmlns:a16="http://schemas.microsoft.com/office/drawing/2014/main" id="{B075251F-8B43-976F-3244-B9252F24BAC8}"/>
              </a:ext>
            </a:extLst>
          </p:cNvPr>
          <p:cNvSpPr txBox="1"/>
          <p:nvPr/>
        </p:nvSpPr>
        <p:spPr>
          <a:xfrm>
            <a:off x="6655324" y="552052"/>
            <a:ext cx="4965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2800" b="1" dirty="0">
                <a:latin typeface="Poppins" panose="020B0502040204020203" pitchFamily="2" charset="0"/>
                <a:cs typeface="Poppins" panose="020B0502040204020203" pitchFamily="2" charset="0"/>
              </a:rPr>
              <a:t>What is and Why Arduino</a:t>
            </a:r>
            <a:endParaRPr lang="en-GB" sz="2800" b="1" dirty="0"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E22BD57-0724-4A85-F00A-FC447922AB5C}"/>
              </a:ext>
            </a:extLst>
          </p:cNvPr>
          <p:cNvSpPr txBox="1"/>
          <p:nvPr/>
        </p:nvSpPr>
        <p:spPr>
          <a:xfrm>
            <a:off x="1162213" y="2028616"/>
            <a:ext cx="9867573" cy="31393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200" dirty="0"/>
              <a:t>What is Arduino?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Open-source electronic prototyping platform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A community that builds microcontroller projects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Arduino IDE: Integrated Development Environment to write / test codes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200" dirty="0"/>
              <a:t>Arduino Dev Board: The Circuit Board that runs the code (UNO, Nano, Mega…)</a:t>
            </a:r>
          </a:p>
          <a:p>
            <a:r>
              <a:rPr lang="en-US" altLang="zh-CN" sz="2200" dirty="0"/>
              <a:t>Why Arduino?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2200" dirty="0"/>
              <a:t>Quickly build projects involving Microcontrollers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altLang="zh-CN" sz="2200" dirty="0"/>
              <a:t>Simple code (</a:t>
            </a:r>
            <a:r>
              <a:rPr lang="en-GB" altLang="zh-CN" sz="2200" i="1" dirty="0"/>
              <a:t>very </a:t>
            </a:r>
            <a:r>
              <a:rPr lang="en-GB" altLang="zh-CN" sz="2200" dirty="0"/>
              <a:t>similar to C++)</a:t>
            </a:r>
          </a:p>
          <a:p>
            <a:endParaRPr lang="en-GB" sz="2200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0828D4E7-5385-550A-2BD5-8614D6CEC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64866"/>
            <a:ext cx="1795182" cy="89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3368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93F1BCA-0389-0870-10F4-9FA1137EB048}"/>
              </a:ext>
            </a:extLst>
          </p:cNvPr>
          <p:cNvSpPr txBox="1"/>
          <p:nvPr/>
        </p:nvSpPr>
        <p:spPr>
          <a:xfrm>
            <a:off x="9258300" y="552052"/>
            <a:ext cx="2362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>
                <a:latin typeface="Poppins" panose="020B0502040204020203" pitchFamily="2" charset="0"/>
                <a:cs typeface="Poppins" panose="020B0502040204020203" pitchFamily="2" charset="0"/>
              </a:rPr>
              <a:t>Lesson Plan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ADBC6F4-5136-A39A-C080-52C0D428EE6B}"/>
              </a:ext>
            </a:extLst>
          </p:cNvPr>
          <p:cNvSpPr txBox="1"/>
          <p:nvPr/>
        </p:nvSpPr>
        <p:spPr>
          <a:xfrm>
            <a:off x="4125589" y="1843950"/>
            <a:ext cx="3940822" cy="43242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altLang="zh-CN" sz="2500" dirty="0">
                <a:cs typeface="Poppins Medium" panose="00000600000000000000" pitchFamily="2" charset="0"/>
              </a:rPr>
              <a:t>Intro to Arduino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altLang="zh-CN" sz="2500" dirty="0">
                <a:cs typeface="Poppins Medium" panose="00000600000000000000" pitchFamily="2" charset="0"/>
              </a:rPr>
              <a:t>Layout for UNO R3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altLang="zh-CN" sz="2500" dirty="0">
                <a:cs typeface="Poppins Medium" panose="00000600000000000000" pitchFamily="2" charset="0"/>
              </a:rPr>
              <a:t>Power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GB" altLang="zh-CN" sz="2500" dirty="0">
                <a:cs typeface="Poppins Medium" panose="00000600000000000000" pitchFamily="2" charset="0"/>
              </a:rPr>
              <a:t>Analog &amp; Digital Pins</a:t>
            </a:r>
          </a:p>
          <a:p>
            <a:pPr marL="1371600" lvl="2" indent="-457200">
              <a:buFont typeface="Arial" panose="020B0604020202020204" pitchFamily="34" charset="0"/>
              <a:buChar char="•"/>
            </a:pPr>
            <a:r>
              <a:rPr lang="en-GB" altLang="zh-CN" sz="2500" dirty="0">
                <a:cs typeface="Poppins Medium" panose="00000600000000000000" pitchFamily="2" charset="0"/>
              </a:rPr>
              <a:t>PWM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altLang="zh-CN" sz="2500" dirty="0">
                <a:cs typeface="Poppins Medium" panose="00000600000000000000" pitchFamily="2" charset="0"/>
              </a:rPr>
              <a:t>IDE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altLang="zh-CN" sz="2500" dirty="0" err="1">
                <a:cs typeface="Poppins Medium" panose="00000600000000000000" pitchFamily="2" charset="0"/>
              </a:rPr>
              <a:t>TinkerCAD</a:t>
            </a:r>
            <a:endParaRPr lang="en-GB" altLang="zh-CN" sz="2500" dirty="0">
              <a:cs typeface="Poppins Medium" panose="00000600000000000000" pitchFamily="2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altLang="zh-CN" sz="2500" dirty="0">
                <a:latin typeface="Aptos" panose="020B0004020202020204" pitchFamily="34" charset="0"/>
                <a:cs typeface="Poppins Medium" panose="00000600000000000000" pitchFamily="2" charset="0"/>
              </a:rPr>
              <a:t>Serial Communication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altLang="zh-CN" sz="2500" dirty="0">
                <a:latin typeface="Aptos" panose="020B0004020202020204" pitchFamily="34" charset="0"/>
                <a:cs typeface="Poppins Medium" panose="00000600000000000000" pitchFamily="2" charset="0"/>
              </a:rPr>
              <a:t>Time functions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altLang="zh-CN" sz="2500" dirty="0">
                <a:latin typeface="Aptos" panose="020B0004020202020204" pitchFamily="34" charset="0"/>
                <a:cs typeface="Poppins Medium" panose="00000600000000000000" pitchFamily="2" charset="0"/>
              </a:rPr>
              <a:t>Functions and Interrupt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altLang="zh-CN" sz="2500" dirty="0">
                <a:latin typeface="Aptos" panose="020B0004020202020204" pitchFamily="34" charset="0"/>
                <a:cs typeface="Poppins Medium" panose="00000600000000000000" pitchFamily="2" charset="0"/>
              </a:rPr>
              <a:t>Super Fun Project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C131279F-050A-E92C-2919-9C1EC82E08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64866"/>
            <a:ext cx="1795182" cy="89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949498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 descr="图片包含 游戏机, 电子, 电路">
            <a:extLst>
              <a:ext uri="{FF2B5EF4-FFF2-40B4-BE49-F238E27FC236}">
                <a16:creationId xmlns:a16="http://schemas.microsoft.com/office/drawing/2014/main" id="{9D710E05-0AB3-7FB4-9F19-965398455DD9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9585"/>
          <a:stretch/>
        </p:blipFill>
        <p:spPr>
          <a:xfrm>
            <a:off x="2333055" y="1355170"/>
            <a:ext cx="2975545" cy="4672408"/>
          </a:xfrm>
          <a:prstGeom prst="rect">
            <a:avLst/>
          </a:prstGeom>
        </p:spPr>
      </p:pic>
      <p:pic>
        <p:nvPicPr>
          <p:cNvPr id="15" name="图片 14" descr="图片包含 游戏机, 电子, 电路">
            <a:extLst>
              <a:ext uri="{FF2B5EF4-FFF2-40B4-BE49-F238E27FC236}">
                <a16:creationId xmlns:a16="http://schemas.microsoft.com/office/drawing/2014/main" id="{AB97E112-9248-A18E-89D9-1403AC6020EB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415" r="248"/>
          <a:stretch/>
        </p:blipFill>
        <p:spPr>
          <a:xfrm>
            <a:off x="5308600" y="1355170"/>
            <a:ext cx="4368800" cy="467240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49D8419-88E0-D2E0-70FA-0B7F426A5DB0}"/>
              </a:ext>
            </a:extLst>
          </p:cNvPr>
          <p:cNvSpPr txBox="1"/>
          <p:nvPr/>
        </p:nvSpPr>
        <p:spPr>
          <a:xfrm>
            <a:off x="8621248" y="552052"/>
            <a:ext cx="2999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>
                <a:latin typeface="Poppins" panose="020B0502040204020203" pitchFamily="2" charset="0"/>
                <a:cs typeface="Poppins" panose="020B0502040204020203" pitchFamily="2" charset="0"/>
              </a:rPr>
              <a:t>Arduino Layout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BEB8582B-97F1-6319-1D15-ED9D494C7CD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3072823" y="2068804"/>
            <a:ext cx="1717126" cy="3438301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82ABF3C-A1FD-D26A-C567-2617575D8E1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259014" y="4885309"/>
            <a:ext cx="1004356" cy="73301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794565A9-E9DC-DD8F-DC0D-403A06AC01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5724227" y="1703184"/>
            <a:ext cx="2448795" cy="835614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5F27B560-93F0-F226-5910-F372591906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7333403" y="4885309"/>
            <a:ext cx="1287845" cy="733018"/>
          </a:xfrm>
          <a:prstGeom prst="rect">
            <a:avLst/>
          </a:prstGeom>
          <a:noFill/>
          <a:ln w="76200"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A55F012-F59B-892C-8CD7-5E4F4A2B62A4}"/>
              </a:ext>
            </a:extLst>
          </p:cNvPr>
          <p:cNvSpPr txBox="1"/>
          <p:nvPr/>
        </p:nvSpPr>
        <p:spPr>
          <a:xfrm>
            <a:off x="7263370" y="5611106"/>
            <a:ext cx="16882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Analog Input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86F6D76-7ADB-4B00-EFD7-11A4EF1CBEC6}"/>
              </a:ext>
            </a:extLst>
          </p:cNvPr>
          <p:cNvSpPr txBox="1"/>
          <p:nvPr/>
        </p:nvSpPr>
        <p:spPr>
          <a:xfrm>
            <a:off x="2189248" y="3691374"/>
            <a:ext cx="8835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Power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3AEB02C5-6D54-694F-F124-A9752882966A}"/>
              </a:ext>
            </a:extLst>
          </p:cNvPr>
          <p:cNvSpPr txBox="1"/>
          <p:nvPr/>
        </p:nvSpPr>
        <p:spPr>
          <a:xfrm>
            <a:off x="6284820" y="1333852"/>
            <a:ext cx="13276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Digital I/O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9F221A9-E007-4963-B7BF-AA4FA37FA041}"/>
              </a:ext>
            </a:extLst>
          </p:cNvPr>
          <p:cNvSpPr txBox="1"/>
          <p:nvPr/>
        </p:nvSpPr>
        <p:spPr>
          <a:xfrm>
            <a:off x="2396205" y="6488668"/>
            <a:ext cx="73995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https://docs.arduino.cc/retired/boards/arduino-uno-rev3-with-long-pins/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2FF290F-EEE6-E68B-BAB0-06B701E3D764}"/>
              </a:ext>
            </a:extLst>
          </p:cNvPr>
          <p:cNvSpPr txBox="1"/>
          <p:nvPr/>
        </p:nvSpPr>
        <p:spPr>
          <a:xfrm>
            <a:off x="6310224" y="4140438"/>
            <a:ext cx="190629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M</a:t>
            </a:r>
            <a:r>
              <a:rPr lang="en-GB" dirty="0" err="1">
                <a:highlight>
                  <a:srgbClr val="FFFF00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icrocontroller</a:t>
            </a:r>
            <a:endParaRPr lang="en-GB" dirty="0">
              <a:highlight>
                <a:srgbClr val="FFFF00"/>
              </a:highlight>
              <a:latin typeface="Poppins" panose="00000500000000000000" pitchFamily="2" charset="0"/>
              <a:cs typeface="Poppins" panose="00000500000000000000" pitchFamily="2" charset="0"/>
            </a:endParaRPr>
          </a:p>
          <a:p>
            <a:r>
              <a:rPr lang="en-GB" dirty="0">
                <a:highlight>
                  <a:srgbClr val="FFFF00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ATMega328p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559E3CE-01B7-7A83-D2C6-07ABD8BD4FD3}"/>
              </a:ext>
            </a:extLst>
          </p:cNvPr>
          <p:cNvSpPr txBox="1"/>
          <p:nvPr/>
        </p:nvSpPr>
        <p:spPr>
          <a:xfrm>
            <a:off x="3228993" y="2472479"/>
            <a:ext cx="1213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USB </a:t>
            </a:r>
          </a:p>
          <a:p>
            <a:r>
              <a:rPr lang="en-US" dirty="0">
                <a:highlight>
                  <a:srgbClr val="FFFF00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Interface</a:t>
            </a:r>
            <a:endParaRPr lang="en-GB" dirty="0">
              <a:highlight>
                <a:srgbClr val="FFFF00"/>
              </a:highligh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AF5CE74B-3210-C4EF-9A38-3FD3AB19B05C}"/>
              </a:ext>
            </a:extLst>
          </p:cNvPr>
          <p:cNvSpPr txBox="1"/>
          <p:nvPr/>
        </p:nvSpPr>
        <p:spPr>
          <a:xfrm>
            <a:off x="3723912" y="4768154"/>
            <a:ext cx="88357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ighlight>
                  <a:srgbClr val="FFFF00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Power</a:t>
            </a:r>
          </a:p>
          <a:p>
            <a:r>
              <a:rPr lang="en-US" dirty="0">
                <a:highlight>
                  <a:srgbClr val="FFFF00"/>
                </a:highlight>
                <a:latin typeface="Poppins" panose="00000500000000000000" pitchFamily="2" charset="0"/>
                <a:cs typeface="Poppins" panose="00000500000000000000" pitchFamily="2" charset="0"/>
              </a:rPr>
              <a:t>Input</a:t>
            </a:r>
            <a:endParaRPr lang="en-GB" dirty="0">
              <a:highlight>
                <a:srgbClr val="FFFF00"/>
              </a:highlight>
              <a:latin typeface="Poppins" panose="000005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5E5D9A9-A420-6CF9-F67B-C718CD95A04D}"/>
              </a:ext>
            </a:extLst>
          </p:cNvPr>
          <p:cNvSpPr txBox="1"/>
          <p:nvPr/>
        </p:nvSpPr>
        <p:spPr>
          <a:xfrm>
            <a:off x="6269712" y="5618327"/>
            <a:ext cx="9829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Power</a:t>
            </a:r>
          </a:p>
          <a:p>
            <a:r>
              <a:rPr lang="en-GB" dirty="0">
                <a:latin typeface="Poppins" panose="00000500000000000000" pitchFamily="2" charset="0"/>
                <a:cs typeface="Poppins" panose="00000500000000000000" pitchFamily="2" charset="0"/>
              </a:rPr>
              <a:t>Output</a:t>
            </a:r>
          </a:p>
        </p:txBody>
      </p:sp>
      <p:pic>
        <p:nvPicPr>
          <p:cNvPr id="17" name="Picture 2">
            <a:extLst>
              <a:ext uri="{FF2B5EF4-FFF2-40B4-BE49-F238E27FC236}">
                <a16:creationId xmlns:a16="http://schemas.microsoft.com/office/drawing/2014/main" id="{D60F74A8-01F0-9FC0-C750-A8B803B945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64866"/>
            <a:ext cx="1795182" cy="89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124243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CD0743FA-2901-8907-5EB2-3B9723DE6424}"/>
              </a:ext>
            </a:extLst>
          </p:cNvPr>
          <p:cNvSpPr txBox="1"/>
          <p:nvPr/>
        </p:nvSpPr>
        <p:spPr>
          <a:xfrm>
            <a:off x="10277182" y="552052"/>
            <a:ext cx="13433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>
                <a:latin typeface="Poppins" panose="020B0502040204020203" pitchFamily="2" charset="0"/>
                <a:cs typeface="Poppins" panose="020B0502040204020203" pitchFamily="2" charset="0"/>
              </a:rPr>
              <a:t>Power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3B67FB8-F5EE-16A8-1771-7F2FC6ABE59F}"/>
              </a:ext>
            </a:extLst>
          </p:cNvPr>
          <p:cNvSpPr txBox="1"/>
          <p:nvPr/>
        </p:nvSpPr>
        <p:spPr>
          <a:xfrm>
            <a:off x="3624399" y="2316786"/>
            <a:ext cx="5807359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cs typeface="Poppins" panose="00000500000000000000" pitchFamily="2" charset="0"/>
              </a:rPr>
              <a:t>Type B - USB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cs typeface="Poppins" panose="00000500000000000000" pitchFamily="2" charset="0"/>
              </a:rPr>
              <a:t>External (non-USB)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cs typeface="Poppins" panose="00000500000000000000" pitchFamily="2" charset="0"/>
              </a:rPr>
              <a:t>Battery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2000" dirty="0">
                <a:cs typeface="Poppins" panose="00000500000000000000" pitchFamily="2" charset="0"/>
              </a:rPr>
              <a:t>Terminals connected to the GND and Vin pin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>
                <a:cs typeface="Poppins" panose="00000500000000000000" pitchFamily="2" charset="0"/>
              </a:rPr>
              <a:t>Recommended range 7-12V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cs typeface="Poppins" panose="00000500000000000000" pitchFamily="2" charset="0"/>
              </a:rPr>
              <a:t>5</a:t>
            </a:r>
            <a:r>
              <a:rPr lang="en-US" altLang="zh-CN" sz="2000" dirty="0">
                <a:cs typeface="Poppins" panose="00000500000000000000" pitchFamily="2" charset="0"/>
              </a:rPr>
              <a:t>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cs typeface="Poppins" panose="00000500000000000000" pitchFamily="2" charset="0"/>
              </a:rPr>
              <a:t>3.3V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cs typeface="Poppins" panose="00000500000000000000" pitchFamily="2" charset="0"/>
              </a:rPr>
              <a:t>GND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>
                <a:cs typeface="Poppins" panose="00000500000000000000" pitchFamily="2" charset="0"/>
              </a:rPr>
              <a:t>Do not short circuit output power to GND</a:t>
            </a:r>
            <a:endParaRPr lang="en-GB" sz="2000" dirty="0">
              <a:cs typeface="Poppins" panose="00000500000000000000" pitchFamily="2" charset="0"/>
            </a:endParaRPr>
          </a:p>
        </p:txBody>
      </p:sp>
      <p:pic>
        <p:nvPicPr>
          <p:cNvPr id="15" name="图片 14" descr="图片包含 游戏机, 电子, 电路">
            <a:extLst>
              <a:ext uri="{FF2B5EF4-FFF2-40B4-BE49-F238E27FC236}">
                <a16:creationId xmlns:a16="http://schemas.microsoft.com/office/drawing/2014/main" id="{39C978A9-F251-D878-9440-83F2B3ECA58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766" t="19015" r="67414" b="11267"/>
          <a:stretch/>
        </p:blipFill>
        <p:spPr>
          <a:xfrm>
            <a:off x="1568449" y="1542712"/>
            <a:ext cx="1860549" cy="3772576"/>
          </a:xfrm>
          <a:prstGeom prst="rect">
            <a:avLst/>
          </a:prstGeom>
        </p:spPr>
      </p:pic>
      <p:pic>
        <p:nvPicPr>
          <p:cNvPr id="16" name="图片 15" descr="图片包含 游戏机, 电子, 电路">
            <a:extLst>
              <a:ext uri="{FF2B5EF4-FFF2-40B4-BE49-F238E27FC236}">
                <a16:creationId xmlns:a16="http://schemas.microsoft.com/office/drawing/2014/main" id="{053BF444-38F0-3720-B4F2-47812ADA368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11" t="75254" r="33538" b="9000"/>
          <a:stretch/>
        </p:blipFill>
        <p:spPr>
          <a:xfrm>
            <a:off x="8609286" y="3662456"/>
            <a:ext cx="2035745" cy="1582982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775C6857-B640-914E-5311-B2383E18F1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64866"/>
            <a:ext cx="1795182" cy="89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323089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8013F25-7344-423B-AF21-9C04DE91DA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7679" y="1161862"/>
            <a:ext cx="6336641" cy="4855027"/>
          </a:xfrm>
          <a:prstGeom prst="rect">
            <a:avLst/>
          </a:prstGeom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693AFF77-09C5-5610-0307-AFE1BCEFC294}"/>
              </a:ext>
            </a:extLst>
          </p:cNvPr>
          <p:cNvSpPr txBox="1"/>
          <p:nvPr/>
        </p:nvSpPr>
        <p:spPr>
          <a:xfrm>
            <a:off x="10277182" y="552052"/>
            <a:ext cx="134331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>
                <a:latin typeface="Poppins" panose="020B0502040204020203" pitchFamily="2" charset="0"/>
                <a:cs typeface="Poppins" panose="020B0502040204020203" pitchFamily="2" charset="0"/>
              </a:rPr>
              <a:t>Power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E95A275-3C56-01CC-0062-0BB01312C7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64866"/>
            <a:ext cx="1795182" cy="89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29116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Analogue and digital signals">
            <a:extLst>
              <a:ext uri="{FF2B5EF4-FFF2-40B4-BE49-F238E27FC236}">
                <a16:creationId xmlns:a16="http://schemas.microsoft.com/office/drawing/2014/main" id="{96AD35FA-9B7C-055C-1A7D-5E1C7F289A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6526"/>
          <a:stretch/>
        </p:blipFill>
        <p:spPr bwMode="auto">
          <a:xfrm>
            <a:off x="4238502" y="3039338"/>
            <a:ext cx="5753100" cy="1147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2">
            <a:extLst>
              <a:ext uri="{FF2B5EF4-FFF2-40B4-BE49-F238E27FC236}">
                <a16:creationId xmlns:a16="http://schemas.microsoft.com/office/drawing/2014/main" id="{FAC9BDF8-7014-F73F-FDA6-08977899CAFD}"/>
              </a:ext>
            </a:extLst>
          </p:cNvPr>
          <p:cNvSpPr txBox="1"/>
          <p:nvPr/>
        </p:nvSpPr>
        <p:spPr>
          <a:xfrm>
            <a:off x="9575800" y="552052"/>
            <a:ext cx="20446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>
                <a:latin typeface="Poppins" panose="020B0502040204020203" pitchFamily="2" charset="0"/>
                <a:cs typeface="Poppins" panose="020B0502040204020203" pitchFamily="2" charset="0"/>
              </a:rPr>
              <a:t>Digital I/O</a:t>
            </a:r>
          </a:p>
        </p:txBody>
      </p:sp>
      <p:pic>
        <p:nvPicPr>
          <p:cNvPr id="6" name="图片 5" descr="图片包含 游戏机, 电子, 电路">
            <a:extLst>
              <a:ext uri="{FF2B5EF4-FFF2-40B4-BE49-F238E27FC236}">
                <a16:creationId xmlns:a16="http://schemas.microsoft.com/office/drawing/2014/main" id="{4A141FCE-293D-17F0-64F3-92418040CD95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315" t="8099" r="20556" b="75729"/>
          <a:stretch/>
        </p:blipFill>
        <p:spPr>
          <a:xfrm rot="5400000">
            <a:off x="1265773" y="2998896"/>
            <a:ext cx="3846393" cy="1228725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6FABD014-7925-5AF3-BE6F-1E646BC5BED5}"/>
              </a:ext>
            </a:extLst>
          </p:cNvPr>
          <p:cNvSpPr txBox="1"/>
          <p:nvPr/>
        </p:nvSpPr>
        <p:spPr>
          <a:xfrm>
            <a:off x="4094729" y="1690062"/>
            <a:ext cx="4819204" cy="34778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cs typeface="Poppins" panose="00000500000000000000" pitchFamily="2" charset="0"/>
              </a:rPr>
              <a:t>Each pin operates at 5V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>
                <a:solidFill>
                  <a:schemeClr val="accent2"/>
                </a:solidFill>
                <a:cs typeface="Poppins" panose="00000500000000000000" pitchFamily="2" charset="0"/>
              </a:rPr>
              <a:t>pinMode</a:t>
            </a:r>
            <a:r>
              <a:rPr lang="en-GB" sz="2000" dirty="0">
                <a:cs typeface="Poppins" panose="00000500000000000000" pitchFamily="2" charset="0"/>
              </a:rPr>
              <a:t>(pin, mode): </a:t>
            </a:r>
            <a:r>
              <a:rPr lang="en-GB" sz="2000" dirty="0">
                <a:solidFill>
                  <a:srgbClr val="0099A1"/>
                </a:solidFill>
                <a:cs typeface="Poppins" panose="00000500000000000000" pitchFamily="2" charset="0"/>
              </a:rPr>
              <a:t>INPUT</a:t>
            </a:r>
            <a:r>
              <a:rPr lang="en-GB" sz="2000" dirty="0">
                <a:cs typeface="Poppins" panose="00000500000000000000" pitchFamily="2" charset="0"/>
              </a:rPr>
              <a:t> or </a:t>
            </a:r>
            <a:r>
              <a:rPr lang="en-GB" sz="2000" dirty="0">
                <a:solidFill>
                  <a:srgbClr val="0099A1"/>
                </a:solidFill>
                <a:cs typeface="Poppins" panose="00000500000000000000" pitchFamily="2" charset="0"/>
              </a:rPr>
              <a:t>OUTPUT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>
                <a:solidFill>
                  <a:schemeClr val="accent2"/>
                </a:solidFill>
                <a:cs typeface="Poppins" panose="00000500000000000000" pitchFamily="2" charset="0"/>
              </a:rPr>
              <a:t>digitalWrite</a:t>
            </a:r>
            <a:r>
              <a:rPr lang="en-GB" sz="2000" dirty="0">
                <a:cs typeface="Poppins" panose="00000500000000000000" pitchFamily="2" charset="0"/>
              </a:rPr>
              <a:t>(pin, value): </a:t>
            </a:r>
            <a:r>
              <a:rPr lang="en-GB" sz="2000" dirty="0">
                <a:solidFill>
                  <a:srgbClr val="0099A1"/>
                </a:solidFill>
                <a:cs typeface="Poppins" panose="00000500000000000000" pitchFamily="2" charset="0"/>
              </a:rPr>
              <a:t>HIGH</a:t>
            </a:r>
            <a:r>
              <a:rPr lang="en-GB" sz="2000" dirty="0">
                <a:cs typeface="Poppins" panose="00000500000000000000" pitchFamily="2" charset="0"/>
              </a:rPr>
              <a:t> or </a:t>
            </a:r>
            <a:r>
              <a:rPr lang="en-GB" sz="2000" dirty="0">
                <a:solidFill>
                  <a:srgbClr val="0099A1"/>
                </a:solidFill>
                <a:cs typeface="Poppins" panose="00000500000000000000" pitchFamily="2" charset="0"/>
              </a:rPr>
              <a:t>LOW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>
                <a:solidFill>
                  <a:schemeClr val="accent2"/>
                </a:solidFill>
                <a:cs typeface="Poppins" panose="00000500000000000000" pitchFamily="2" charset="0"/>
              </a:rPr>
              <a:t>digitalRead</a:t>
            </a:r>
            <a:r>
              <a:rPr lang="en-GB" sz="2000" dirty="0">
                <a:cs typeface="Poppins" panose="00000500000000000000" pitchFamily="2" charset="0"/>
              </a:rPr>
              <a:t>(</a:t>
            </a:r>
            <a:r>
              <a:rPr lang="en-GB" altLang="zh-CN" sz="2000" dirty="0">
                <a:cs typeface="Poppins" panose="00000500000000000000" pitchFamily="2" charset="0"/>
              </a:rPr>
              <a:t>pin</a:t>
            </a:r>
            <a:r>
              <a:rPr lang="en-GB" sz="2000" dirty="0">
                <a:cs typeface="Poppins" panose="00000500000000000000" pitchFamily="2" charset="0"/>
              </a:rPr>
              <a:t>): returns type int (0 or 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>
              <a:cs typeface="Poppins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2000" dirty="0">
              <a:cs typeface="Poppins" panose="00000500000000000000" pitchFamily="2" charset="0"/>
            </a:endParaRPr>
          </a:p>
          <a:p>
            <a:endParaRPr lang="en-GB" sz="2000" dirty="0">
              <a:cs typeface="Poppins" panose="00000500000000000000" pitchFamily="2" charset="0"/>
            </a:endParaRPr>
          </a:p>
          <a:p>
            <a:endParaRPr lang="en-GB" sz="2000" dirty="0">
              <a:cs typeface="Poppins" panose="00000500000000000000" pitchFamily="2" charset="0"/>
            </a:endParaRPr>
          </a:p>
          <a:p>
            <a:r>
              <a:rPr lang="en-GB" sz="2000" dirty="0">
                <a:cs typeface="Poppins" panose="00000500000000000000" pitchFamily="2" charset="0"/>
              </a:rPr>
              <a:t>PWM (Pulse Width Modulation)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>
                <a:cs typeface="Poppins" panose="00000500000000000000" pitchFamily="2" charset="0"/>
              </a:rPr>
              <a:t>Pins with ~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 dirty="0" err="1">
                <a:solidFill>
                  <a:schemeClr val="accent2"/>
                </a:solidFill>
                <a:cs typeface="Poppins" panose="00000500000000000000" pitchFamily="2" charset="0"/>
              </a:rPr>
              <a:t>analogWrite</a:t>
            </a:r>
            <a:r>
              <a:rPr lang="en-GB" sz="2000" dirty="0">
                <a:cs typeface="Poppins" panose="00000500000000000000" pitchFamily="2" charset="0"/>
              </a:rPr>
              <a:t>(pin, value): 0 to 255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B255E769-4D2B-D5B4-432E-CF9500403AD9}"/>
              </a:ext>
            </a:extLst>
          </p:cNvPr>
          <p:cNvSpPr txBox="1"/>
          <p:nvPr/>
        </p:nvSpPr>
        <p:spPr>
          <a:xfrm>
            <a:off x="1752920" y="6488668"/>
            <a:ext cx="8686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https://digestiblenotes.com/physics/electricity_and_waves/analogue_and_digital.php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AB146F-53B2-A4FC-AB48-7D40EC12AD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64866"/>
            <a:ext cx="1795182" cy="89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967648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图片包含 游戏机, 电子, 电路">
            <a:extLst>
              <a:ext uri="{FF2B5EF4-FFF2-40B4-BE49-F238E27FC236}">
                <a16:creationId xmlns:a16="http://schemas.microsoft.com/office/drawing/2014/main" id="{CDD8F07A-2EAB-4199-9087-602CC2356EA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755" t="76458" r="14651" b="9000"/>
          <a:stretch/>
        </p:blipFill>
        <p:spPr>
          <a:xfrm>
            <a:off x="2146300" y="2238139"/>
            <a:ext cx="2673350" cy="1402198"/>
          </a:xfrm>
          <a:prstGeom prst="rect">
            <a:avLst/>
          </a:prstGeom>
        </p:spPr>
      </p:pic>
      <p:sp>
        <p:nvSpPr>
          <p:cNvPr id="6" name="TextBox 2">
            <a:extLst>
              <a:ext uri="{FF2B5EF4-FFF2-40B4-BE49-F238E27FC236}">
                <a16:creationId xmlns:a16="http://schemas.microsoft.com/office/drawing/2014/main" id="{6D9E923D-8DD4-1302-541D-EEA8748981C6}"/>
              </a:ext>
            </a:extLst>
          </p:cNvPr>
          <p:cNvSpPr txBox="1"/>
          <p:nvPr/>
        </p:nvSpPr>
        <p:spPr>
          <a:xfrm>
            <a:off x="9048750" y="552052"/>
            <a:ext cx="2571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>
                <a:latin typeface="Poppins" panose="020B0502040204020203" pitchFamily="2" charset="0"/>
                <a:cs typeface="Poppins" panose="020B0502040204020203" pitchFamily="2" charset="0"/>
              </a:rPr>
              <a:t>Analog Input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35F9048-EF63-0957-29D3-EDE669254BDA}"/>
              </a:ext>
            </a:extLst>
          </p:cNvPr>
          <p:cNvSpPr txBox="1"/>
          <p:nvPr/>
        </p:nvSpPr>
        <p:spPr>
          <a:xfrm>
            <a:off x="5033010" y="2426620"/>
            <a:ext cx="50126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altLang="zh-CN" sz="2000" dirty="0">
                <a:cs typeface="Poppins" panose="00000500000000000000" pitchFamily="2" charset="0"/>
              </a:rPr>
              <a:t>10-bit resolution – measure from 0 to 5V</a:t>
            </a:r>
          </a:p>
          <a:p>
            <a:r>
              <a:rPr lang="en-GB" altLang="zh-CN" sz="2000" dirty="0">
                <a:cs typeface="Poppins" panose="00000500000000000000" pitchFamily="2" charset="0"/>
              </a:rPr>
              <a:t>4.9mV per unit</a:t>
            </a:r>
          </a:p>
          <a:p>
            <a:r>
              <a:rPr lang="en-GB" altLang="zh-CN" sz="2000" dirty="0" err="1">
                <a:solidFill>
                  <a:schemeClr val="accent2"/>
                </a:solidFill>
                <a:cs typeface="Poppins" panose="00000500000000000000" pitchFamily="2" charset="0"/>
              </a:rPr>
              <a:t>analogRead</a:t>
            </a:r>
            <a:r>
              <a:rPr lang="en-GB" altLang="zh-CN" sz="2000" dirty="0">
                <a:cs typeface="Poppins" panose="00000500000000000000" pitchFamily="2" charset="0"/>
              </a:rPr>
              <a:t>(pin): returns 0 to 1023</a:t>
            </a:r>
          </a:p>
        </p:txBody>
      </p:sp>
      <p:pic>
        <p:nvPicPr>
          <p:cNvPr id="2" name="Picture 2" descr="Analogue and digital signals">
            <a:extLst>
              <a:ext uri="{FF2B5EF4-FFF2-40B4-BE49-F238E27FC236}">
                <a16:creationId xmlns:a16="http://schemas.microsoft.com/office/drawing/2014/main" id="{2FA8E4AA-7B82-BA86-67A1-E9F84533698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279" b="53819"/>
          <a:stretch/>
        </p:blipFill>
        <p:spPr bwMode="auto">
          <a:xfrm>
            <a:off x="3219450" y="3732670"/>
            <a:ext cx="5753100" cy="15931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文本框 2">
            <a:extLst>
              <a:ext uri="{FF2B5EF4-FFF2-40B4-BE49-F238E27FC236}">
                <a16:creationId xmlns:a16="http://schemas.microsoft.com/office/drawing/2014/main" id="{8334FBE0-E22E-C9FA-BB3D-69226D261169}"/>
              </a:ext>
            </a:extLst>
          </p:cNvPr>
          <p:cNvSpPr txBox="1"/>
          <p:nvPr/>
        </p:nvSpPr>
        <p:spPr>
          <a:xfrm>
            <a:off x="1752920" y="6488668"/>
            <a:ext cx="86861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https://digestiblenotes.com/physics/electricity_and_waves/analogue_and_digital.php</a:t>
            </a: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788538EA-CFBB-35E6-94BB-47085B379A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64866"/>
            <a:ext cx="1795182" cy="89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041917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>
            <a:extLst>
              <a:ext uri="{FF2B5EF4-FFF2-40B4-BE49-F238E27FC236}">
                <a16:creationId xmlns:a16="http://schemas.microsoft.com/office/drawing/2014/main" id="{0E375B15-FCD2-6899-9C9C-06261D9EE155}"/>
              </a:ext>
            </a:extLst>
          </p:cNvPr>
          <p:cNvSpPr txBox="1"/>
          <p:nvPr/>
        </p:nvSpPr>
        <p:spPr>
          <a:xfrm>
            <a:off x="9048750" y="552052"/>
            <a:ext cx="2571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>
                <a:latin typeface="Poppins" panose="020B0502040204020203" pitchFamily="2" charset="0"/>
                <a:cs typeface="Poppins" panose="020B0502040204020203" pitchFamily="2" charset="0"/>
              </a:rPr>
              <a:t>Tinkercad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441F2A0-F2D2-AE10-EC0E-786499E448D2}"/>
              </a:ext>
            </a:extLst>
          </p:cNvPr>
          <p:cNvSpPr txBox="1"/>
          <p:nvPr/>
        </p:nvSpPr>
        <p:spPr>
          <a:xfrm>
            <a:off x="8716178" y="1075272"/>
            <a:ext cx="29043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https://www.tinkercad.com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4F34755-8DD1-3C15-C020-FE694E8C60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2754"/>
          <a:stretch/>
        </p:blipFill>
        <p:spPr>
          <a:xfrm>
            <a:off x="1278503" y="1444604"/>
            <a:ext cx="9634994" cy="5001679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2F693D1B-82E3-0C4C-67A3-A4E6AE2778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64866"/>
            <a:ext cx="1795182" cy="89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18259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1CA282D-81A8-F870-99FD-F93D79C63A73}"/>
              </a:ext>
            </a:extLst>
          </p:cNvPr>
          <p:cNvSpPr txBox="1"/>
          <p:nvPr/>
        </p:nvSpPr>
        <p:spPr>
          <a:xfrm>
            <a:off x="7212874" y="552052"/>
            <a:ext cx="44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>
                <a:latin typeface="Poppins" panose="020B0502040204020203" pitchFamily="2" charset="0"/>
                <a:cs typeface="Poppins" panose="020B0502040204020203" pitchFamily="2" charset="0"/>
              </a:rPr>
              <a:t>Finding the Arduino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3D778E-4E9B-E96F-07BC-CDF25651351C}"/>
              </a:ext>
            </a:extLst>
          </p:cNvPr>
          <p:cNvSpPr txBox="1"/>
          <p:nvPr/>
        </p:nvSpPr>
        <p:spPr>
          <a:xfrm>
            <a:off x="2106220" y="1228167"/>
            <a:ext cx="79795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sz="2000" dirty="0">
                <a:sym typeface="Wingdings" panose="05000000000000000000" pitchFamily="2" charset="2"/>
              </a:rPr>
              <a:t> </a:t>
            </a:r>
            <a:r>
              <a:rPr lang="en-GB" sz="2000" b="1" dirty="0">
                <a:sym typeface="Wingdings" panose="05000000000000000000" pitchFamily="2" charset="2"/>
              </a:rPr>
              <a:t>Connect your Arduino </a:t>
            </a:r>
            <a:r>
              <a:rPr lang="en-GB" sz="2000" dirty="0">
                <a:sym typeface="Wingdings" panose="05000000000000000000" pitchFamily="2" charset="2"/>
              </a:rPr>
              <a:t>to the computer via the USB Cable.</a:t>
            </a:r>
          </a:p>
          <a:p>
            <a:pPr marL="342900" indent="-342900">
              <a:buAutoNum type="arabicPeriod"/>
            </a:pPr>
            <a:r>
              <a:rPr lang="en-GB" sz="2000" dirty="0">
                <a:sym typeface="Wingdings" panose="05000000000000000000" pitchFamily="2" charset="2"/>
              </a:rPr>
              <a:t> Open </a:t>
            </a:r>
            <a:r>
              <a:rPr lang="en-GB" sz="2000" b="1" dirty="0">
                <a:sym typeface="Wingdings" panose="05000000000000000000" pitchFamily="2" charset="2"/>
              </a:rPr>
              <a:t>Device Manager </a:t>
            </a:r>
            <a:r>
              <a:rPr lang="en-GB" sz="2000" dirty="0">
                <a:sym typeface="Wingdings" panose="05000000000000000000" pitchFamily="2" charset="2"/>
              </a:rPr>
              <a:t>using the start menu search bar.</a:t>
            </a:r>
          </a:p>
          <a:p>
            <a:pPr marL="342900" indent="-342900">
              <a:buAutoNum type="arabicPeriod"/>
            </a:pPr>
            <a:r>
              <a:rPr lang="en-GB" sz="2000" dirty="0">
                <a:sym typeface="Wingdings" panose="05000000000000000000" pitchFamily="2" charset="2"/>
              </a:rPr>
              <a:t> Scroll to ‘</a:t>
            </a:r>
            <a:r>
              <a:rPr lang="en-GB" sz="2000" b="1" dirty="0">
                <a:sym typeface="Wingdings" panose="05000000000000000000" pitchFamily="2" charset="2"/>
              </a:rPr>
              <a:t>Ports (COM &amp; LPT)</a:t>
            </a:r>
            <a:r>
              <a:rPr lang="en-GB" sz="2000" dirty="0">
                <a:sym typeface="Wingdings" panose="05000000000000000000" pitchFamily="2" charset="2"/>
              </a:rPr>
              <a:t>’ and open it to see your USB device.</a:t>
            </a:r>
          </a:p>
          <a:p>
            <a:pPr marL="342900" indent="-342900">
              <a:buAutoNum type="arabicPeriod"/>
            </a:pPr>
            <a:r>
              <a:rPr lang="en-GB" sz="2000" dirty="0">
                <a:sym typeface="Wingdings" panose="05000000000000000000" pitchFamily="2" charset="2"/>
              </a:rPr>
              <a:t> Note the Port number with the Arduino on it. You’ll need it later.</a:t>
            </a:r>
            <a:endParaRPr lang="en-GB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9744DB3-8D6C-10D3-E8C0-98EA73D506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2302" y="2581391"/>
            <a:ext cx="3766075" cy="3950649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831F68-3E9E-92CE-83AC-420B6DE407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17443" y="2581391"/>
            <a:ext cx="5374061" cy="3947271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D17C932-CAE9-7CA3-010C-C2B39BE613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64866"/>
            <a:ext cx="1795182" cy="89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40822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284142-1DBE-E48F-01FC-E2A8B987C6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FF73308-E032-AF4F-3A1F-7B90443F0673}"/>
              </a:ext>
            </a:extLst>
          </p:cNvPr>
          <p:cNvSpPr txBox="1"/>
          <p:nvPr/>
        </p:nvSpPr>
        <p:spPr>
          <a:xfrm>
            <a:off x="9048750" y="552052"/>
            <a:ext cx="2571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>
                <a:latin typeface="Poppins" panose="020B0502040204020203" pitchFamily="2" charset="0"/>
                <a:cs typeface="Poppins" panose="020B0502040204020203" pitchFamily="2" charset="0"/>
              </a:rPr>
              <a:t>Arduino IDE 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B8BA3F3-EB92-85C5-71B1-3B3300C15134}"/>
              </a:ext>
            </a:extLst>
          </p:cNvPr>
          <p:cNvSpPr txBox="1"/>
          <p:nvPr/>
        </p:nvSpPr>
        <p:spPr>
          <a:xfrm>
            <a:off x="704844" y="2934110"/>
            <a:ext cx="381381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Setting up the Arduino:</a:t>
            </a:r>
            <a:br>
              <a:rPr lang="en-US" sz="2000" dirty="0"/>
            </a:br>
            <a:endParaRPr lang="en-US" sz="2000" dirty="0"/>
          </a:p>
          <a:p>
            <a:pPr marL="342900" indent="-342900">
              <a:buAutoNum type="arabicPeriod"/>
            </a:pPr>
            <a:r>
              <a:rPr lang="en-US" sz="2000" dirty="0"/>
              <a:t>Go to ‘</a:t>
            </a:r>
            <a:r>
              <a:rPr lang="en-US" sz="2000" b="1" dirty="0"/>
              <a:t>Tools</a:t>
            </a:r>
            <a:r>
              <a:rPr lang="en-US" sz="2000" dirty="0"/>
              <a:t>’.</a:t>
            </a:r>
          </a:p>
          <a:p>
            <a:pPr marL="342900" indent="-342900">
              <a:buAutoNum type="arabicPeriod"/>
            </a:pPr>
            <a:r>
              <a:rPr lang="en-US" sz="2000" dirty="0"/>
              <a:t>In the ‘</a:t>
            </a:r>
            <a:r>
              <a:rPr lang="en-US" sz="2000" b="1" dirty="0"/>
              <a:t>Boards</a:t>
            </a:r>
            <a:r>
              <a:rPr lang="en-US" sz="2000" dirty="0"/>
              <a:t>’, select ‘</a:t>
            </a:r>
            <a:r>
              <a:rPr lang="en-US" sz="2000" b="1" dirty="0"/>
              <a:t>Arduino AVR Boards</a:t>
            </a:r>
            <a:r>
              <a:rPr lang="en-US" sz="2000" dirty="0"/>
              <a:t>’, then select ‘</a:t>
            </a:r>
            <a:r>
              <a:rPr lang="en-US" sz="2000" b="1" dirty="0"/>
              <a:t>Arduino Uno</a:t>
            </a:r>
            <a:r>
              <a:rPr lang="en-US" sz="2000" dirty="0"/>
              <a:t>’. </a:t>
            </a:r>
          </a:p>
          <a:p>
            <a:pPr marL="342900" indent="-342900">
              <a:buAutoNum type="arabicPeriod"/>
            </a:pPr>
            <a:r>
              <a:rPr lang="en-US" sz="2000" dirty="0"/>
              <a:t>Again under ‘</a:t>
            </a:r>
            <a:r>
              <a:rPr lang="en-US" sz="2000" b="1" dirty="0"/>
              <a:t>Tools</a:t>
            </a:r>
            <a:r>
              <a:rPr lang="en-US" sz="2000" dirty="0"/>
              <a:t>’, find ‘</a:t>
            </a:r>
            <a:r>
              <a:rPr lang="en-US" sz="2000" b="1" dirty="0"/>
              <a:t>Port</a:t>
            </a:r>
            <a:r>
              <a:rPr lang="en-US" sz="2000" dirty="0"/>
              <a:t>’ - select the port number you found the device manager.</a:t>
            </a:r>
            <a:endParaRPr lang="en-GB" sz="20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12E44A4-219C-0C59-4BB6-048F2C7D061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85" r="27327"/>
          <a:stretch>
            <a:fillRect/>
          </a:stretch>
        </p:blipFill>
        <p:spPr bwMode="auto">
          <a:xfrm>
            <a:off x="704844" y="1341431"/>
            <a:ext cx="895356" cy="9157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3200214-8D58-C62C-8EA3-708838FFE924}"/>
              </a:ext>
            </a:extLst>
          </p:cNvPr>
          <p:cNvSpPr txBox="1"/>
          <p:nvPr/>
        </p:nvSpPr>
        <p:spPr>
          <a:xfrm>
            <a:off x="1794171" y="1476129"/>
            <a:ext cx="539910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sym typeface="Wingdings" panose="05000000000000000000" pitchFamily="2" charset="2"/>
              </a:rPr>
              <a:t> This is the icon of the Arduino IDE. Find it</a:t>
            </a:r>
            <a:br>
              <a:rPr lang="en-GB" sz="2000" dirty="0">
                <a:sym typeface="Wingdings" panose="05000000000000000000" pitchFamily="2" charset="2"/>
              </a:rPr>
            </a:br>
            <a:r>
              <a:rPr lang="en-GB" sz="2000" dirty="0">
                <a:sym typeface="Wingdings" panose="05000000000000000000" pitchFamily="2" charset="2"/>
              </a:rPr>
              <a:t>      on your computer and launch it. </a:t>
            </a:r>
            <a:endParaRPr lang="en-GB" sz="20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202E976-924D-056F-426C-872764577C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1390" y="2257157"/>
            <a:ext cx="6745967" cy="421622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D0A558E-B135-0507-FEB4-B0D457207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64866"/>
            <a:ext cx="1795182" cy="89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538704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2">
            <a:extLst>
              <a:ext uri="{FF2B5EF4-FFF2-40B4-BE49-F238E27FC236}">
                <a16:creationId xmlns:a16="http://schemas.microsoft.com/office/drawing/2014/main" id="{0E375B15-FCD2-6899-9C9C-06261D9EE155}"/>
              </a:ext>
            </a:extLst>
          </p:cNvPr>
          <p:cNvSpPr txBox="1"/>
          <p:nvPr/>
        </p:nvSpPr>
        <p:spPr>
          <a:xfrm>
            <a:off x="6096000" y="552052"/>
            <a:ext cx="5524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>
                <a:latin typeface="Poppins" panose="020B0502040204020203" pitchFamily="2" charset="0"/>
                <a:cs typeface="Poppins" panose="020B0502040204020203" pitchFamily="2" charset="0"/>
              </a:rPr>
              <a:t>Let's look at some Examples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0BD71FF-BE9E-63E1-22A6-76821F8005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0587" y="1447799"/>
            <a:ext cx="8276880" cy="434727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73AC496-C32E-AEEF-AC79-31EAD576B811}"/>
              </a:ext>
            </a:extLst>
          </p:cNvPr>
          <p:cNvSpPr txBox="1"/>
          <p:nvPr/>
        </p:nvSpPr>
        <p:spPr>
          <a:xfrm>
            <a:off x="880109" y="2767281"/>
            <a:ext cx="278447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sz="2000" dirty="0"/>
              <a:t>Go to ‘</a:t>
            </a:r>
            <a:r>
              <a:rPr lang="en-GB" sz="2000" b="1" dirty="0"/>
              <a:t>File</a:t>
            </a:r>
            <a:r>
              <a:rPr lang="en-GB" sz="2000" dirty="0"/>
              <a:t>’</a:t>
            </a:r>
          </a:p>
          <a:p>
            <a:pPr marL="342900" indent="-342900">
              <a:buAutoNum type="arabicPeriod"/>
            </a:pPr>
            <a:r>
              <a:rPr lang="en-GB" sz="2000" dirty="0"/>
              <a:t>Select ‘</a:t>
            </a:r>
            <a:r>
              <a:rPr lang="en-GB" sz="2000" b="1" dirty="0"/>
              <a:t>Examples</a:t>
            </a:r>
            <a:r>
              <a:rPr lang="en-GB" sz="2000" dirty="0"/>
              <a:t>’</a:t>
            </a:r>
          </a:p>
          <a:p>
            <a:pPr marL="342900" indent="-342900">
              <a:buAutoNum type="arabicPeriod"/>
            </a:pPr>
            <a:r>
              <a:rPr lang="en-GB" sz="2000" dirty="0"/>
              <a:t>Select ‘</a:t>
            </a:r>
            <a:r>
              <a:rPr lang="en-GB" sz="2000" b="1" dirty="0"/>
              <a:t>Basics</a:t>
            </a:r>
            <a:r>
              <a:rPr lang="en-GB" sz="2000" dirty="0"/>
              <a:t>’</a:t>
            </a:r>
          </a:p>
          <a:p>
            <a:pPr marL="342900" indent="-342900">
              <a:buAutoNum type="arabicPeriod"/>
            </a:pPr>
            <a:r>
              <a:rPr lang="en-GB" sz="2000" dirty="0"/>
              <a:t>Select ‘</a:t>
            </a:r>
            <a:r>
              <a:rPr lang="en-GB" sz="2000" b="1" dirty="0"/>
              <a:t>Blink</a:t>
            </a:r>
            <a:r>
              <a:rPr lang="en-GB" sz="2000" dirty="0"/>
              <a:t>’</a:t>
            </a: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B79F4EE2-4BA5-47A2-FEDF-76E5C4C06C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64866"/>
            <a:ext cx="1795182" cy="89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96788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81CA282D-81A8-F870-99FD-F93D79C63A73}"/>
              </a:ext>
            </a:extLst>
          </p:cNvPr>
          <p:cNvSpPr txBox="1"/>
          <p:nvPr/>
        </p:nvSpPr>
        <p:spPr>
          <a:xfrm>
            <a:off x="9048750" y="552052"/>
            <a:ext cx="2571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>
                <a:latin typeface="Poppins" panose="020B0502040204020203" pitchFamily="2" charset="0"/>
                <a:cs typeface="Poppins" panose="020B0502040204020203" pitchFamily="2" charset="0"/>
              </a:rPr>
              <a:t>Arduino IDE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5D3BF0D-10DE-5245-DC7D-92340A72A3A4}"/>
              </a:ext>
            </a:extLst>
          </p:cNvPr>
          <p:cNvSpPr txBox="1"/>
          <p:nvPr/>
        </p:nvSpPr>
        <p:spPr>
          <a:xfrm>
            <a:off x="842507" y="2305615"/>
            <a:ext cx="319609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You can verify the code with the ‘</a:t>
            </a:r>
            <a:r>
              <a:rPr lang="en-US" sz="2000" b="1" dirty="0"/>
              <a:t>✓</a:t>
            </a:r>
            <a:r>
              <a:rPr lang="en-US" sz="2000" dirty="0"/>
              <a:t>’ </a:t>
            </a:r>
            <a:r>
              <a:rPr lang="en-US" sz="2000" b="1" dirty="0"/>
              <a:t>Verify</a:t>
            </a:r>
            <a:r>
              <a:rPr lang="en-US" sz="2000" dirty="0"/>
              <a:t> symbol (not usually required).</a:t>
            </a:r>
          </a:p>
          <a:p>
            <a:endParaRPr lang="en-US" sz="2000" dirty="0"/>
          </a:p>
          <a:p>
            <a:r>
              <a:rPr lang="en-US" sz="2000" dirty="0"/>
              <a:t>Upload code through USB cable to board using the ‘</a:t>
            </a:r>
            <a:r>
              <a:rPr lang="en-US" sz="2000" b="1" dirty="0">
                <a:sym typeface="Wingdings" panose="05000000000000000000" pitchFamily="2" charset="2"/>
              </a:rPr>
              <a:t></a:t>
            </a:r>
            <a:r>
              <a:rPr lang="en-US" sz="2000" dirty="0">
                <a:sym typeface="Wingdings" panose="05000000000000000000" pitchFamily="2" charset="2"/>
              </a:rPr>
              <a:t>’ </a:t>
            </a:r>
            <a:r>
              <a:rPr lang="en-US" sz="2000" b="1" dirty="0">
                <a:sym typeface="Wingdings" panose="05000000000000000000" pitchFamily="2" charset="2"/>
              </a:rPr>
              <a:t>Upload</a:t>
            </a:r>
            <a:r>
              <a:rPr lang="en-US" sz="2000" dirty="0">
                <a:sym typeface="Wingdings" panose="05000000000000000000" pitchFamily="2" charset="2"/>
              </a:rPr>
              <a:t> symbol.</a:t>
            </a:r>
            <a:endParaRPr lang="en-GB" sz="20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54E32CDF-9F64-31F7-FA5A-6A320A19FFBC}"/>
              </a:ext>
            </a:extLst>
          </p:cNvPr>
          <p:cNvGrpSpPr/>
          <p:nvPr/>
        </p:nvGrpSpPr>
        <p:grpSpPr>
          <a:xfrm>
            <a:off x="4341499" y="1300212"/>
            <a:ext cx="7623805" cy="4761896"/>
            <a:chOff x="4268701" y="1284972"/>
            <a:chExt cx="7623805" cy="4761896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4238A9C-9424-C21D-5A07-DF826B18B37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268701" y="1284972"/>
              <a:ext cx="7623805" cy="4761896"/>
            </a:xfrm>
            <a:prstGeom prst="rect">
              <a:avLst/>
            </a:prstGeom>
          </p:spPr>
        </p:pic>
        <p:sp>
          <p:nvSpPr>
            <p:cNvPr id="6" name="矩形 7">
              <a:extLst>
                <a:ext uri="{FF2B5EF4-FFF2-40B4-BE49-F238E27FC236}">
                  <a16:creationId xmlns:a16="http://schemas.microsoft.com/office/drawing/2014/main" id="{CAF7256E-D9C5-EAB2-A0B8-C24864D26A64}"/>
                </a:ext>
              </a:extLst>
            </p:cNvPr>
            <p:cNvSpPr/>
            <p:nvPr/>
          </p:nvSpPr>
          <p:spPr>
            <a:xfrm>
              <a:off x="4268701" y="1496996"/>
              <a:ext cx="406666" cy="280121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pic>
        <p:nvPicPr>
          <p:cNvPr id="2" name="Picture 2">
            <a:extLst>
              <a:ext uri="{FF2B5EF4-FFF2-40B4-BE49-F238E27FC236}">
                <a16:creationId xmlns:a16="http://schemas.microsoft.com/office/drawing/2014/main" id="{327975E9-2426-59E0-CE1E-787A29261C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64866"/>
            <a:ext cx="1795182" cy="89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97903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2">
            <a:extLst>
              <a:ext uri="{FF2B5EF4-FFF2-40B4-BE49-F238E27FC236}">
                <a16:creationId xmlns:a16="http://schemas.microsoft.com/office/drawing/2014/main" id="{CA5D0C4C-AD23-B8ED-7DCD-BEC9C9AD19DA}"/>
              </a:ext>
            </a:extLst>
          </p:cNvPr>
          <p:cNvSpPr txBox="1"/>
          <p:nvPr/>
        </p:nvSpPr>
        <p:spPr>
          <a:xfrm>
            <a:off x="8205108" y="552052"/>
            <a:ext cx="34153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b="1" dirty="0">
                <a:latin typeface="Poppins" panose="020B0502040204020203" pitchFamily="2" charset="0"/>
                <a:cs typeface="Poppins" panose="020B0502040204020203" pitchFamily="2" charset="0"/>
              </a:rPr>
              <a:t>Mini Project time</a:t>
            </a:r>
            <a:endParaRPr lang="en-GB" sz="2800" b="1" dirty="0"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8B2843E-CACD-9CC1-6C30-F3527CA5FFAC}"/>
              </a:ext>
            </a:extLst>
          </p:cNvPr>
          <p:cNvSpPr txBox="1"/>
          <p:nvPr/>
        </p:nvSpPr>
        <p:spPr>
          <a:xfrm>
            <a:off x="6768193" y="1075272"/>
            <a:ext cx="5104374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You have an Arduino UNO and a LED; t</a:t>
            </a:r>
            <a:r>
              <a:rPr lang="en-GB" sz="2000" dirty="0" err="1"/>
              <a:t>ry</a:t>
            </a:r>
            <a:r>
              <a:rPr lang="en-GB" sz="2000" dirty="0"/>
              <a:t> to vary the LED’s brightness over time (fading).</a:t>
            </a:r>
          </a:p>
          <a:p>
            <a:endParaRPr lang="en-GB" sz="2000" dirty="0"/>
          </a:p>
          <a:p>
            <a:r>
              <a:rPr lang="en-GB" sz="2000" dirty="0"/>
              <a:t>You </a:t>
            </a:r>
            <a:r>
              <a:rPr lang="en-GB" sz="2000" b="1" dirty="0"/>
              <a:t>MUST</a:t>
            </a:r>
            <a:r>
              <a:rPr lang="en-GB" sz="2000" dirty="0"/>
              <a:t> connect a resistor between the digital output pin and the LED to limit the current (</a:t>
            </a:r>
            <a:r>
              <a:rPr lang="en-GB" sz="2000" b="1" dirty="0"/>
              <a:t>20mA</a:t>
            </a:r>
            <a:r>
              <a:rPr lang="en-GB" sz="2000" dirty="0"/>
              <a:t>) passing through.</a:t>
            </a:r>
          </a:p>
          <a:p>
            <a:endParaRPr lang="en-GB" sz="2000" dirty="0"/>
          </a:p>
          <a:p>
            <a:r>
              <a:rPr lang="en-GB" sz="2000" dirty="0"/>
              <a:t>You will need to use the </a:t>
            </a:r>
            <a:r>
              <a:rPr lang="en-GB" sz="2000" dirty="0">
                <a:solidFill>
                  <a:schemeClr val="accent2"/>
                </a:solidFill>
              </a:rPr>
              <a:t>delay</a:t>
            </a:r>
            <a:r>
              <a:rPr lang="en-GB" sz="2000" dirty="0"/>
              <a:t>() function.</a:t>
            </a:r>
          </a:p>
          <a:p>
            <a:endParaRPr lang="en-GB" sz="2000" dirty="0"/>
          </a:p>
          <a:p>
            <a:r>
              <a:rPr lang="en-GB" sz="2000" dirty="0">
                <a:solidFill>
                  <a:schemeClr val="accent2"/>
                </a:solidFill>
              </a:rPr>
              <a:t>delay</a:t>
            </a:r>
            <a:r>
              <a:rPr lang="en-GB" sz="2000" dirty="0"/>
              <a:t>(</a:t>
            </a:r>
            <a:r>
              <a:rPr lang="en-GB" sz="2000" dirty="0" err="1"/>
              <a:t>ms</a:t>
            </a:r>
            <a:r>
              <a:rPr lang="en-GB" sz="20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Pauses the program for the amount of time (in milliseconds) specified as parameter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dirty="0"/>
          </a:p>
          <a:p>
            <a:r>
              <a:rPr lang="en-US" sz="2000" dirty="0"/>
              <a:t>Tip: you can assume a constant 0.7V drop across an LED.</a:t>
            </a:r>
            <a:endParaRPr lang="en-GB" sz="20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7856A25-694B-3517-59C0-D1D276CD00FC}"/>
              </a:ext>
            </a:extLst>
          </p:cNvPr>
          <p:cNvSpPr txBox="1"/>
          <p:nvPr/>
        </p:nvSpPr>
        <p:spPr>
          <a:xfrm>
            <a:off x="2555832" y="6488668"/>
            <a:ext cx="70803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https://www.arduino.cc/reference/en/language/functions/time/delay/</a:t>
            </a:r>
          </a:p>
        </p:txBody>
      </p:sp>
      <p:pic>
        <p:nvPicPr>
          <p:cNvPr id="2" name="图片 4">
            <a:extLst>
              <a:ext uri="{FF2B5EF4-FFF2-40B4-BE49-F238E27FC236}">
                <a16:creationId xmlns:a16="http://schemas.microsoft.com/office/drawing/2014/main" id="{852EDDCE-62F4-1B9C-1250-0E1705291F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38" y="1216775"/>
            <a:ext cx="6635631" cy="521697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DF11ADA-26F6-0516-2BAC-243549498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64866"/>
            <a:ext cx="1795182" cy="89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873408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A494586-C7D4-753B-8F50-420E7BEF0BAC}"/>
              </a:ext>
            </a:extLst>
          </p:cNvPr>
          <p:cNvSpPr txBox="1"/>
          <p:nvPr/>
        </p:nvSpPr>
        <p:spPr>
          <a:xfrm>
            <a:off x="7244862" y="552052"/>
            <a:ext cx="43756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>
                <a:latin typeface="Poppins" panose="020B0502040204020203" pitchFamily="2" charset="0"/>
                <a:cs typeface="Poppins" panose="020B0502040204020203" pitchFamily="2" charset="0"/>
              </a:rPr>
              <a:t>Serial Communication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10C196B-A9B0-37A8-A476-B95759142015}"/>
              </a:ext>
            </a:extLst>
          </p:cNvPr>
          <p:cNvSpPr txBox="1"/>
          <p:nvPr/>
        </p:nvSpPr>
        <p:spPr>
          <a:xfrm>
            <a:off x="1528763" y="2319432"/>
            <a:ext cx="8638519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 dirty="0">
                <a:solidFill>
                  <a:srgbClr val="000000"/>
                </a:solidFill>
                <a:latin typeface="Aptos" panose="020B0004020202020204" pitchFamily="34" charset="0"/>
              </a:rPr>
              <a:t>C</a:t>
            </a:r>
            <a:r>
              <a:rPr lang="en-US" altLang="zh-CN" sz="2000" b="0" i="0" dirty="0">
                <a:solidFill>
                  <a:srgbClr val="000000"/>
                </a:solidFill>
                <a:effectLst/>
                <a:latin typeface="Aptos" panose="020B0004020202020204" pitchFamily="34" charset="0"/>
              </a:rPr>
              <a:t>ommunication between the Arduino board and a computer or other devices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zh-CN" sz="2000" dirty="0" err="1">
                <a:solidFill>
                  <a:schemeClr val="accent2"/>
                </a:solidFill>
                <a:latin typeface="Aptos" panose="020B0004020202020204" pitchFamily="34" charset="0"/>
                <a:cs typeface="Poppins Medium" panose="00000600000000000000" pitchFamily="2" charset="0"/>
              </a:rPr>
              <a:t>Serial</a:t>
            </a:r>
            <a:r>
              <a:rPr lang="en-GB" altLang="zh-CN" sz="2000" dirty="0" err="1">
                <a:latin typeface="Aptos" panose="020B0004020202020204" pitchFamily="34" charset="0"/>
                <a:cs typeface="Poppins Medium" panose="00000600000000000000" pitchFamily="2" charset="0"/>
              </a:rPr>
              <a:t>.</a:t>
            </a:r>
            <a:r>
              <a:rPr lang="en-GB" altLang="zh-CN" sz="2000" dirty="0" err="1">
                <a:solidFill>
                  <a:schemeClr val="accent2"/>
                </a:solidFill>
                <a:latin typeface="Aptos" panose="020B0004020202020204" pitchFamily="34" charset="0"/>
                <a:cs typeface="Poppins Medium" panose="00000600000000000000" pitchFamily="2" charset="0"/>
              </a:rPr>
              <a:t>begin</a:t>
            </a:r>
            <a:r>
              <a:rPr lang="en-GB" altLang="zh-CN" sz="2000" dirty="0">
                <a:latin typeface="Aptos" panose="020B0004020202020204" pitchFamily="34" charset="0"/>
                <a:cs typeface="Poppins Medium" panose="00000600000000000000" pitchFamily="2" charset="0"/>
              </a:rPr>
              <a:t>(speed): sets the data rate for serial data transmission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GB" altLang="zh-CN" sz="2000" dirty="0">
                <a:latin typeface="Aptos" panose="020B0004020202020204" pitchFamily="34" charset="0"/>
                <a:cs typeface="Poppins Medium" panose="00000600000000000000" pitchFamily="2" charset="0"/>
              </a:rPr>
              <a:t>Use rates listed at the bottom right corner of the serial monitor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zh-CN" sz="2000" dirty="0" err="1">
                <a:solidFill>
                  <a:schemeClr val="accent2"/>
                </a:solidFill>
                <a:latin typeface="Aptos" panose="020B0004020202020204" pitchFamily="34" charset="0"/>
                <a:cs typeface="Poppins Medium" panose="00000600000000000000" pitchFamily="2" charset="0"/>
              </a:rPr>
              <a:t>Serial</a:t>
            </a:r>
            <a:r>
              <a:rPr lang="en-GB" altLang="zh-CN" sz="2000" dirty="0" err="1">
                <a:latin typeface="Aptos" panose="020B0004020202020204" pitchFamily="34" charset="0"/>
                <a:cs typeface="Poppins Medium" panose="00000600000000000000" pitchFamily="2" charset="0"/>
              </a:rPr>
              <a:t>.</a:t>
            </a:r>
            <a:r>
              <a:rPr lang="en-GB" altLang="zh-CN" sz="2000" dirty="0" err="1">
                <a:solidFill>
                  <a:schemeClr val="accent2"/>
                </a:solidFill>
                <a:latin typeface="Aptos" panose="020B0004020202020204" pitchFamily="34" charset="0"/>
                <a:cs typeface="Poppins Medium" panose="00000600000000000000" pitchFamily="2" charset="0"/>
              </a:rPr>
              <a:t>print</a:t>
            </a:r>
            <a:r>
              <a:rPr lang="en-GB" altLang="zh-CN" sz="2000" dirty="0">
                <a:latin typeface="Aptos" panose="020B0004020202020204" pitchFamily="34" charset="0"/>
                <a:cs typeface="Poppins Medium" panose="00000600000000000000" pitchFamily="2" charset="0"/>
              </a:rPr>
              <a:t>(</a:t>
            </a:r>
            <a:r>
              <a:rPr lang="en-GB" altLang="zh-CN" sz="2000" dirty="0" err="1">
                <a:latin typeface="Aptos" panose="020B0004020202020204" pitchFamily="34" charset="0"/>
                <a:cs typeface="Poppins Medium" panose="00000600000000000000" pitchFamily="2" charset="0"/>
              </a:rPr>
              <a:t>val</a:t>
            </a:r>
            <a:r>
              <a:rPr lang="en-GB" altLang="zh-CN" sz="2000" dirty="0">
                <a:latin typeface="Aptos" panose="020B0004020202020204" pitchFamily="34" charset="0"/>
                <a:cs typeface="Poppins Medium" panose="00000600000000000000" pitchFamily="2" charset="0"/>
              </a:rPr>
              <a:t>): prints data to serial port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zh-CN" sz="2000" dirty="0" err="1">
                <a:solidFill>
                  <a:schemeClr val="accent2"/>
                </a:solidFill>
                <a:latin typeface="Aptos" panose="020B0004020202020204" pitchFamily="34" charset="0"/>
                <a:cs typeface="Poppins Medium" panose="00000600000000000000" pitchFamily="2" charset="0"/>
              </a:rPr>
              <a:t>Serial</a:t>
            </a:r>
            <a:r>
              <a:rPr lang="en-GB" altLang="zh-CN" sz="2000" dirty="0" err="1">
                <a:latin typeface="Aptos" panose="020B0004020202020204" pitchFamily="34" charset="0"/>
                <a:cs typeface="Poppins Medium" panose="00000600000000000000" pitchFamily="2" charset="0"/>
              </a:rPr>
              <a:t>.</a:t>
            </a:r>
            <a:r>
              <a:rPr lang="en-GB" altLang="zh-CN" sz="2000" dirty="0" err="1">
                <a:solidFill>
                  <a:schemeClr val="accent2"/>
                </a:solidFill>
                <a:latin typeface="Aptos" panose="020B0004020202020204" pitchFamily="34" charset="0"/>
                <a:cs typeface="Poppins Medium" panose="00000600000000000000" pitchFamily="2" charset="0"/>
              </a:rPr>
              <a:t>println</a:t>
            </a:r>
            <a:r>
              <a:rPr lang="en-GB" altLang="zh-CN" sz="2000" dirty="0">
                <a:latin typeface="Aptos" panose="020B0004020202020204" pitchFamily="34" charset="0"/>
                <a:cs typeface="Poppins Medium" panose="00000600000000000000" pitchFamily="2" charset="0"/>
              </a:rPr>
              <a:t>(</a:t>
            </a:r>
            <a:r>
              <a:rPr lang="en-GB" altLang="zh-CN" sz="2000" dirty="0" err="1">
                <a:latin typeface="Aptos" panose="020B0004020202020204" pitchFamily="34" charset="0"/>
                <a:cs typeface="Poppins Medium" panose="00000600000000000000" pitchFamily="2" charset="0"/>
              </a:rPr>
              <a:t>val</a:t>
            </a:r>
            <a:r>
              <a:rPr lang="en-GB" altLang="zh-CN" sz="2000" dirty="0">
                <a:latin typeface="Aptos" panose="020B0004020202020204" pitchFamily="34" charset="0"/>
                <a:cs typeface="Poppins Medium" panose="00000600000000000000" pitchFamily="2" charset="0"/>
              </a:rPr>
              <a:t>): prints data followed by a ‘</a:t>
            </a:r>
            <a:r>
              <a:rPr lang="en-US" altLang="zh-CN" sz="2000" dirty="0">
                <a:latin typeface="Aptos" panose="020B0004020202020204" pitchFamily="34" charset="0"/>
                <a:cs typeface="Poppins Medium" panose="00000600000000000000" pitchFamily="2" charset="0"/>
              </a:rPr>
              <a:t>\r\n’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zh-CN" sz="2000" dirty="0" err="1">
                <a:solidFill>
                  <a:schemeClr val="accent2"/>
                </a:solidFill>
                <a:latin typeface="Aptos" panose="020B0004020202020204" pitchFamily="34" charset="0"/>
                <a:cs typeface="Poppins Medium" panose="00000600000000000000" pitchFamily="2" charset="0"/>
              </a:rPr>
              <a:t>Serial</a:t>
            </a:r>
            <a:r>
              <a:rPr lang="en-US" altLang="zh-CN" sz="2000" dirty="0" err="1">
                <a:latin typeface="Aptos" panose="020B0004020202020204" pitchFamily="34" charset="0"/>
                <a:cs typeface="Poppins Medium" panose="00000600000000000000" pitchFamily="2" charset="0"/>
              </a:rPr>
              <a:t>.</a:t>
            </a:r>
            <a:r>
              <a:rPr lang="en-US" altLang="zh-CN" sz="2000" dirty="0" err="1">
                <a:solidFill>
                  <a:schemeClr val="accent2"/>
                </a:solidFill>
                <a:latin typeface="Aptos" panose="020B0004020202020204" pitchFamily="34" charset="0"/>
                <a:cs typeface="Poppins Medium" panose="00000600000000000000" pitchFamily="2" charset="0"/>
              </a:rPr>
              <a:t>write</a:t>
            </a:r>
            <a:r>
              <a:rPr lang="en-US" altLang="zh-CN" sz="2000" dirty="0">
                <a:latin typeface="Aptos" panose="020B0004020202020204" pitchFamily="34" charset="0"/>
                <a:cs typeface="Poppins Medium" panose="00000600000000000000" pitchFamily="2" charset="0"/>
              </a:rPr>
              <a:t>(ASCII): prints value based on ASCII code.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altLang="zh-CN" sz="2000" dirty="0">
                <a:latin typeface="Aptos" panose="020B0004020202020204" pitchFamily="34" charset="0"/>
                <a:cs typeface="Poppins Medium" panose="00000600000000000000" pitchFamily="2" charset="0"/>
              </a:rPr>
              <a:t>e.g. </a:t>
            </a:r>
            <a:r>
              <a:rPr lang="en-US" altLang="zh-CN" sz="2000" dirty="0" err="1">
                <a:latin typeface="Aptos" panose="020B0004020202020204" pitchFamily="34" charset="0"/>
                <a:cs typeface="Poppins Medium" panose="00000600000000000000" pitchFamily="2" charset="0"/>
              </a:rPr>
              <a:t>Serial.write</a:t>
            </a:r>
            <a:r>
              <a:rPr lang="en-US" altLang="zh-CN" sz="2000" dirty="0">
                <a:latin typeface="Aptos" panose="020B0004020202020204" pitchFamily="34" charset="0"/>
                <a:cs typeface="Poppins Medium" panose="00000600000000000000" pitchFamily="2" charset="0"/>
              </a:rPr>
              <a:t>(48) prints 0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altLang="zh-CN" sz="2000" dirty="0" err="1">
                <a:solidFill>
                  <a:schemeClr val="accent2"/>
                </a:solidFill>
                <a:latin typeface="Aptos" panose="020B0004020202020204" pitchFamily="34" charset="0"/>
                <a:cs typeface="Poppins Medium" panose="00000600000000000000" pitchFamily="2" charset="0"/>
              </a:rPr>
              <a:t>Serial</a:t>
            </a:r>
            <a:r>
              <a:rPr lang="en-GB" altLang="zh-CN" sz="2000" dirty="0" err="1">
                <a:latin typeface="Aptos" panose="020B0004020202020204" pitchFamily="34" charset="0"/>
                <a:cs typeface="Poppins Medium" panose="00000600000000000000" pitchFamily="2" charset="0"/>
              </a:rPr>
              <a:t>.</a:t>
            </a:r>
            <a:r>
              <a:rPr lang="en-GB" altLang="zh-CN" sz="2000" dirty="0" err="1">
                <a:solidFill>
                  <a:schemeClr val="accent2"/>
                </a:solidFill>
                <a:latin typeface="Aptos" panose="020B0004020202020204" pitchFamily="34" charset="0"/>
                <a:cs typeface="Poppins Medium" panose="00000600000000000000" pitchFamily="2" charset="0"/>
              </a:rPr>
              <a:t>read</a:t>
            </a:r>
            <a:r>
              <a:rPr lang="en-GB" altLang="zh-CN" sz="2000" dirty="0">
                <a:latin typeface="Aptos" panose="020B0004020202020204" pitchFamily="34" charset="0"/>
                <a:cs typeface="Poppins Medium" panose="00000600000000000000" pitchFamily="2" charset="0"/>
              </a:rPr>
              <a:t>(): returns a character represented by its ASCII code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2539BE55-2B1F-6435-F48A-9E92EE8B05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64866"/>
            <a:ext cx="1795182" cy="89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4044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F9FFB73-EC1F-D385-F7C9-F4C1443C55C4}"/>
              </a:ext>
            </a:extLst>
          </p:cNvPr>
          <p:cNvSpPr txBox="1"/>
          <p:nvPr/>
        </p:nvSpPr>
        <p:spPr>
          <a:xfrm>
            <a:off x="7244862" y="552052"/>
            <a:ext cx="43756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>
                <a:latin typeface="Poppins" panose="020B0502040204020203" pitchFamily="2" charset="0"/>
                <a:cs typeface="Poppins" panose="020B0502040204020203" pitchFamily="2" charset="0"/>
              </a:rPr>
              <a:t>Sample Code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EB540265-965F-F572-E6E2-9AEE7FD9AF5B}"/>
              </a:ext>
            </a:extLst>
          </p:cNvPr>
          <p:cNvSpPr txBox="1"/>
          <p:nvPr/>
        </p:nvSpPr>
        <p:spPr>
          <a:xfrm>
            <a:off x="2699657" y="1161862"/>
            <a:ext cx="679268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5AABB1"/>
                </a:solidFill>
                <a:latin typeface="Aptos" panose="020B0004020202020204" pitchFamily="34" charset="0"/>
              </a:rPr>
              <a:t>int</a:t>
            </a:r>
            <a:r>
              <a:rPr lang="en-GB" dirty="0">
                <a:latin typeface="Aptos" panose="020B0004020202020204" pitchFamily="34" charset="0"/>
              </a:rPr>
              <a:t> </a:t>
            </a:r>
            <a:r>
              <a:rPr lang="en-GB" dirty="0" err="1">
                <a:latin typeface="Aptos" panose="020B0004020202020204" pitchFamily="34" charset="0"/>
              </a:rPr>
              <a:t>incomingByte</a:t>
            </a:r>
            <a:r>
              <a:rPr lang="en-GB" dirty="0">
                <a:latin typeface="Aptos" panose="020B0004020202020204" pitchFamily="34" charset="0"/>
              </a:rPr>
              <a:t> = 0; 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// for incoming serial data</a:t>
            </a:r>
          </a:p>
          <a:p>
            <a:endParaRPr lang="en-GB" dirty="0">
              <a:latin typeface="Aptos" panose="020B0004020202020204" pitchFamily="34" charset="0"/>
            </a:endParaRPr>
          </a:p>
          <a:p>
            <a:r>
              <a:rPr lang="en-GB" dirty="0">
                <a:solidFill>
                  <a:srgbClr val="5AABB1"/>
                </a:solidFill>
                <a:latin typeface="Aptos" panose="020B0004020202020204" pitchFamily="34" charset="0"/>
              </a:rPr>
              <a:t>void</a:t>
            </a:r>
            <a:r>
              <a:rPr lang="en-GB" dirty="0">
                <a:latin typeface="Aptos" panose="020B0004020202020204" pitchFamily="34" charset="0"/>
              </a:rPr>
              <a:t> </a:t>
            </a:r>
            <a:r>
              <a:rPr lang="en-GB" dirty="0">
                <a:solidFill>
                  <a:srgbClr val="5D6C08"/>
                </a:solidFill>
                <a:latin typeface="Aptos" panose="020B0004020202020204" pitchFamily="34" charset="0"/>
              </a:rPr>
              <a:t>setup</a:t>
            </a:r>
            <a:r>
              <a:rPr lang="en-GB" dirty="0">
                <a:latin typeface="Aptos" panose="020B0004020202020204" pitchFamily="34" charset="0"/>
              </a:rPr>
              <a:t>() {</a:t>
            </a:r>
          </a:p>
          <a:p>
            <a:r>
              <a:rPr lang="en-GB" dirty="0">
                <a:latin typeface="Aptos" panose="020B0004020202020204" pitchFamily="34" charset="0"/>
              </a:rPr>
              <a:t>  </a:t>
            </a:r>
            <a:r>
              <a:rPr lang="en-GB" dirty="0" err="1">
                <a:solidFill>
                  <a:schemeClr val="accent2"/>
                </a:solidFill>
                <a:latin typeface="Aptos" panose="020B0004020202020204" pitchFamily="34" charset="0"/>
              </a:rPr>
              <a:t>Serial</a:t>
            </a:r>
            <a:r>
              <a:rPr lang="en-GB" dirty="0" err="1">
                <a:latin typeface="Aptos" panose="020B0004020202020204" pitchFamily="34" charset="0"/>
              </a:rPr>
              <a:t>.</a:t>
            </a:r>
            <a:r>
              <a:rPr lang="en-GB" dirty="0" err="1">
                <a:solidFill>
                  <a:schemeClr val="accent2"/>
                </a:solidFill>
                <a:latin typeface="Aptos" panose="020B0004020202020204" pitchFamily="34" charset="0"/>
              </a:rPr>
              <a:t>begin</a:t>
            </a:r>
            <a:r>
              <a:rPr lang="en-GB" dirty="0">
                <a:latin typeface="Aptos" panose="020B0004020202020204" pitchFamily="34" charset="0"/>
              </a:rPr>
              <a:t>(9600); 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// opens serial port, sets data rate to 9600 bps</a:t>
            </a:r>
          </a:p>
          <a:p>
            <a:r>
              <a:rPr lang="en-GB" dirty="0">
                <a:latin typeface="Aptos" panose="020B0004020202020204" pitchFamily="34" charset="0"/>
              </a:rPr>
              <a:t>}</a:t>
            </a:r>
          </a:p>
          <a:p>
            <a:endParaRPr lang="en-GB" dirty="0">
              <a:latin typeface="Aptos" panose="020B0004020202020204" pitchFamily="34" charset="0"/>
            </a:endParaRPr>
          </a:p>
          <a:p>
            <a:r>
              <a:rPr lang="en-GB" dirty="0">
                <a:solidFill>
                  <a:srgbClr val="5AABB1"/>
                </a:solidFill>
                <a:latin typeface="Aptos" panose="020B0004020202020204" pitchFamily="34" charset="0"/>
              </a:rPr>
              <a:t>void</a:t>
            </a:r>
            <a:r>
              <a:rPr lang="en-GB" dirty="0">
                <a:latin typeface="Aptos" panose="020B0004020202020204" pitchFamily="34" charset="0"/>
              </a:rPr>
              <a:t> </a:t>
            </a:r>
            <a:r>
              <a:rPr lang="en-GB" dirty="0">
                <a:solidFill>
                  <a:srgbClr val="5D6C08"/>
                </a:solidFill>
                <a:latin typeface="Aptos" panose="020B0004020202020204" pitchFamily="34" charset="0"/>
              </a:rPr>
              <a:t>loop</a:t>
            </a:r>
            <a:r>
              <a:rPr lang="en-GB" dirty="0">
                <a:latin typeface="Aptos" panose="020B0004020202020204" pitchFamily="34" charset="0"/>
              </a:rPr>
              <a:t>() {</a:t>
            </a:r>
          </a:p>
          <a:p>
            <a:r>
              <a:rPr lang="en-GB" dirty="0">
                <a:latin typeface="Aptos" panose="020B0004020202020204" pitchFamily="34" charset="0"/>
              </a:rPr>
              <a:t>  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// send data only when you receive data:</a:t>
            </a:r>
          </a:p>
          <a:p>
            <a:r>
              <a:rPr lang="en-GB" dirty="0">
                <a:latin typeface="Aptos" panose="020B0004020202020204" pitchFamily="34" charset="0"/>
              </a:rPr>
              <a:t>  if (</a:t>
            </a:r>
            <a:r>
              <a:rPr lang="en-GB" dirty="0" err="1">
                <a:solidFill>
                  <a:schemeClr val="accent2"/>
                </a:solidFill>
                <a:latin typeface="Aptos" panose="020B0004020202020204" pitchFamily="34" charset="0"/>
              </a:rPr>
              <a:t>Serial</a:t>
            </a:r>
            <a:r>
              <a:rPr lang="en-GB" dirty="0" err="1">
                <a:latin typeface="Aptos" panose="020B0004020202020204" pitchFamily="34" charset="0"/>
              </a:rPr>
              <a:t>.</a:t>
            </a:r>
            <a:r>
              <a:rPr lang="en-GB" dirty="0" err="1">
                <a:solidFill>
                  <a:schemeClr val="accent2"/>
                </a:solidFill>
                <a:latin typeface="Aptos" panose="020B0004020202020204" pitchFamily="34" charset="0"/>
              </a:rPr>
              <a:t>available</a:t>
            </a:r>
            <a:r>
              <a:rPr lang="en-GB" dirty="0">
                <a:latin typeface="Aptos" panose="020B0004020202020204" pitchFamily="34" charset="0"/>
              </a:rPr>
              <a:t>() &gt; 0) {</a:t>
            </a:r>
          </a:p>
          <a:p>
            <a:r>
              <a:rPr lang="en-GB" dirty="0">
                <a:latin typeface="Aptos" panose="020B0004020202020204" pitchFamily="34" charset="0"/>
              </a:rPr>
              <a:t>    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// read the incoming byte:</a:t>
            </a:r>
          </a:p>
          <a:p>
            <a:r>
              <a:rPr lang="en-GB" dirty="0">
                <a:latin typeface="Aptos" panose="020B0004020202020204" pitchFamily="34" charset="0"/>
              </a:rPr>
              <a:t>    </a:t>
            </a:r>
            <a:r>
              <a:rPr lang="en-GB" dirty="0" err="1">
                <a:latin typeface="Aptos" panose="020B0004020202020204" pitchFamily="34" charset="0"/>
              </a:rPr>
              <a:t>incomingByte</a:t>
            </a:r>
            <a:r>
              <a:rPr lang="en-GB" dirty="0">
                <a:latin typeface="Aptos" panose="020B0004020202020204" pitchFamily="34" charset="0"/>
              </a:rPr>
              <a:t> = </a:t>
            </a:r>
            <a:r>
              <a:rPr lang="en-GB" dirty="0" err="1">
                <a:solidFill>
                  <a:schemeClr val="accent2"/>
                </a:solidFill>
                <a:latin typeface="Aptos" panose="020B0004020202020204" pitchFamily="34" charset="0"/>
              </a:rPr>
              <a:t>Serial</a:t>
            </a:r>
            <a:r>
              <a:rPr lang="en-GB" dirty="0" err="1">
                <a:latin typeface="Aptos" panose="020B0004020202020204" pitchFamily="34" charset="0"/>
              </a:rPr>
              <a:t>.</a:t>
            </a:r>
            <a:r>
              <a:rPr lang="en-GB" dirty="0" err="1">
                <a:solidFill>
                  <a:schemeClr val="accent2"/>
                </a:solidFill>
                <a:latin typeface="Aptos" panose="020B0004020202020204" pitchFamily="34" charset="0"/>
              </a:rPr>
              <a:t>read</a:t>
            </a:r>
            <a:r>
              <a:rPr lang="en-GB" dirty="0">
                <a:latin typeface="Aptos" panose="020B0004020202020204" pitchFamily="34" charset="0"/>
              </a:rPr>
              <a:t>();</a:t>
            </a:r>
          </a:p>
          <a:p>
            <a:endParaRPr lang="en-GB" dirty="0">
              <a:latin typeface="Aptos" panose="020B0004020202020204" pitchFamily="34" charset="0"/>
            </a:endParaRPr>
          </a:p>
          <a:p>
            <a:r>
              <a:rPr lang="en-GB" dirty="0">
                <a:latin typeface="Aptos" panose="020B0004020202020204" pitchFamily="34" charset="0"/>
              </a:rPr>
              <a:t>    </a:t>
            </a:r>
            <a:r>
              <a:rPr lang="en-GB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// say what you got:</a:t>
            </a:r>
          </a:p>
          <a:p>
            <a:r>
              <a:rPr lang="en-GB" dirty="0">
                <a:latin typeface="Aptos" panose="020B0004020202020204" pitchFamily="34" charset="0"/>
              </a:rPr>
              <a:t>    </a:t>
            </a:r>
            <a:r>
              <a:rPr lang="en-GB" dirty="0" err="1">
                <a:solidFill>
                  <a:schemeClr val="accent2"/>
                </a:solidFill>
                <a:latin typeface="Aptos" panose="020B0004020202020204" pitchFamily="34" charset="0"/>
              </a:rPr>
              <a:t>Serial</a:t>
            </a:r>
            <a:r>
              <a:rPr lang="en-GB" dirty="0" err="1">
                <a:latin typeface="Aptos" panose="020B0004020202020204" pitchFamily="34" charset="0"/>
              </a:rPr>
              <a:t>.</a:t>
            </a:r>
            <a:r>
              <a:rPr lang="en-GB" dirty="0" err="1">
                <a:solidFill>
                  <a:schemeClr val="accent2"/>
                </a:solidFill>
                <a:latin typeface="Aptos" panose="020B0004020202020204" pitchFamily="34" charset="0"/>
              </a:rPr>
              <a:t>print</a:t>
            </a:r>
            <a:r>
              <a:rPr lang="en-GB" dirty="0">
                <a:latin typeface="Aptos" panose="020B0004020202020204" pitchFamily="34" charset="0"/>
              </a:rPr>
              <a:t>(</a:t>
            </a:r>
            <a:r>
              <a:rPr lang="en-GB" dirty="0">
                <a:solidFill>
                  <a:schemeClr val="tx2">
                    <a:lumMod val="90000"/>
                    <a:lumOff val="10000"/>
                  </a:schemeClr>
                </a:solidFill>
                <a:latin typeface="Aptos" panose="020B0004020202020204" pitchFamily="34" charset="0"/>
              </a:rPr>
              <a:t>"I received: ");</a:t>
            </a:r>
          </a:p>
          <a:p>
            <a:r>
              <a:rPr lang="en-GB" dirty="0">
                <a:latin typeface="Aptos" panose="020B0004020202020204" pitchFamily="34" charset="0"/>
              </a:rPr>
              <a:t>    </a:t>
            </a:r>
            <a:r>
              <a:rPr lang="en-GB" dirty="0" err="1">
                <a:solidFill>
                  <a:schemeClr val="accent2"/>
                </a:solidFill>
                <a:latin typeface="Aptos" panose="020B0004020202020204" pitchFamily="34" charset="0"/>
              </a:rPr>
              <a:t>Serial</a:t>
            </a:r>
            <a:r>
              <a:rPr lang="en-GB" dirty="0" err="1">
                <a:latin typeface="Aptos" panose="020B0004020202020204" pitchFamily="34" charset="0"/>
              </a:rPr>
              <a:t>.</a:t>
            </a:r>
            <a:r>
              <a:rPr lang="en-GB" dirty="0" err="1">
                <a:solidFill>
                  <a:schemeClr val="accent2"/>
                </a:solidFill>
                <a:latin typeface="Aptos" panose="020B0004020202020204" pitchFamily="34" charset="0"/>
              </a:rPr>
              <a:t>write</a:t>
            </a:r>
            <a:r>
              <a:rPr lang="en-GB" dirty="0">
                <a:latin typeface="Aptos" panose="020B0004020202020204" pitchFamily="34" charset="0"/>
              </a:rPr>
              <a:t>(</a:t>
            </a:r>
            <a:r>
              <a:rPr lang="en-GB" dirty="0" err="1">
                <a:latin typeface="Aptos" panose="020B0004020202020204" pitchFamily="34" charset="0"/>
              </a:rPr>
              <a:t>incomingByte</a:t>
            </a:r>
            <a:r>
              <a:rPr lang="en-GB" dirty="0">
                <a:latin typeface="Aptos" panose="020B0004020202020204" pitchFamily="34" charset="0"/>
              </a:rPr>
              <a:t>);</a:t>
            </a:r>
          </a:p>
          <a:p>
            <a:r>
              <a:rPr lang="en-GB" dirty="0">
                <a:latin typeface="Aptos" panose="020B0004020202020204" pitchFamily="34" charset="0"/>
              </a:rPr>
              <a:t>    </a:t>
            </a:r>
            <a:r>
              <a:rPr lang="en-GB" dirty="0" err="1">
                <a:solidFill>
                  <a:schemeClr val="accent2"/>
                </a:solidFill>
                <a:latin typeface="Aptos" panose="020B0004020202020204" pitchFamily="34" charset="0"/>
              </a:rPr>
              <a:t>Serial</a:t>
            </a:r>
            <a:r>
              <a:rPr lang="en-GB" dirty="0" err="1">
                <a:latin typeface="Aptos" panose="020B0004020202020204" pitchFamily="34" charset="0"/>
              </a:rPr>
              <a:t>.</a:t>
            </a:r>
            <a:r>
              <a:rPr lang="en-GB" dirty="0" err="1">
                <a:solidFill>
                  <a:schemeClr val="accent2"/>
                </a:solidFill>
                <a:latin typeface="Aptos" panose="020B0004020202020204" pitchFamily="34" charset="0"/>
              </a:rPr>
              <a:t>println</a:t>
            </a:r>
            <a:r>
              <a:rPr lang="en-GB" dirty="0">
                <a:latin typeface="Aptos" panose="020B0004020202020204" pitchFamily="34" charset="0"/>
              </a:rPr>
              <a:t>();</a:t>
            </a:r>
          </a:p>
          <a:p>
            <a:r>
              <a:rPr lang="en-GB" dirty="0">
                <a:latin typeface="Aptos" panose="020B0004020202020204" pitchFamily="34" charset="0"/>
              </a:rPr>
              <a:t>  }</a:t>
            </a:r>
          </a:p>
          <a:p>
            <a:r>
              <a:rPr lang="en-GB" dirty="0">
                <a:latin typeface="Aptos" panose="020B0004020202020204" pitchFamily="34" charset="0"/>
              </a:rPr>
              <a:t>}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A5F678F-6126-A7CE-32E1-B9B3957A77B3}"/>
              </a:ext>
            </a:extLst>
          </p:cNvPr>
          <p:cNvSpPr txBox="1"/>
          <p:nvPr/>
        </p:nvSpPr>
        <p:spPr>
          <a:xfrm>
            <a:off x="1815821" y="6488668"/>
            <a:ext cx="85603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https://www.arduino.cc/reference/tr/language/functions/communication/serial/read/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42CD2DFE-275B-FA17-DF19-A163233721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64866"/>
            <a:ext cx="1795182" cy="89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013255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D2497E7-1A5C-0384-674F-D809B738E65D}"/>
              </a:ext>
            </a:extLst>
          </p:cNvPr>
          <p:cNvSpPr txBox="1"/>
          <p:nvPr/>
        </p:nvSpPr>
        <p:spPr>
          <a:xfrm>
            <a:off x="7244862" y="552052"/>
            <a:ext cx="43756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>
                <a:latin typeface="Poppins" panose="020B0502040204020203" pitchFamily="2" charset="0"/>
                <a:cs typeface="Poppins" panose="020B0502040204020203" pitchFamily="2" charset="0"/>
              </a:rPr>
              <a:t>Time Functions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ED1631-D2F0-B8A6-B5A8-132AA979D75E}"/>
              </a:ext>
            </a:extLst>
          </p:cNvPr>
          <p:cNvSpPr txBox="1"/>
          <p:nvPr/>
        </p:nvSpPr>
        <p:spPr>
          <a:xfrm>
            <a:off x="1675153" y="2613392"/>
            <a:ext cx="8841693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solidFill>
                  <a:schemeClr val="accent2"/>
                </a:solidFill>
                <a:latin typeface="Aptos" panose="020B0004020202020204" pitchFamily="34" charset="0"/>
              </a:rPr>
              <a:t>delay</a:t>
            </a:r>
            <a:r>
              <a:rPr lang="en-US" altLang="zh-CN" sz="2000" dirty="0">
                <a:solidFill>
                  <a:srgbClr val="000000"/>
                </a:solidFill>
                <a:latin typeface="Aptos" panose="020B0004020202020204" pitchFamily="34" charset="0"/>
              </a:rPr>
              <a:t>(</a:t>
            </a:r>
            <a:r>
              <a:rPr lang="en-US" altLang="zh-CN" sz="2000" dirty="0" err="1">
                <a:solidFill>
                  <a:srgbClr val="000000"/>
                </a:solidFill>
                <a:latin typeface="Aptos" panose="020B0004020202020204" pitchFamily="34" charset="0"/>
              </a:rPr>
              <a:t>ms</a:t>
            </a:r>
            <a:r>
              <a:rPr lang="en-US" altLang="zh-CN" sz="2000" dirty="0">
                <a:solidFill>
                  <a:srgbClr val="000000"/>
                </a:solidFill>
                <a:latin typeface="Aptos" panose="020B0004020202020204" pitchFamily="34" charset="0"/>
              </a:rPr>
              <a:t>): pauses the program for time entered in milliseconds</a:t>
            </a:r>
          </a:p>
          <a:p>
            <a:endParaRPr lang="en-US" altLang="zh-CN" sz="2000" dirty="0">
              <a:solidFill>
                <a:srgbClr val="000000"/>
              </a:solidFill>
              <a:latin typeface="Aptos" panose="020B0004020202020204" pitchFamily="34" charset="0"/>
            </a:endParaRPr>
          </a:p>
          <a:p>
            <a:r>
              <a:rPr lang="en-US" altLang="zh-CN" sz="2000" dirty="0" err="1">
                <a:solidFill>
                  <a:schemeClr val="accent2"/>
                </a:solidFill>
                <a:latin typeface="Aptos" panose="020B0004020202020204" pitchFamily="34" charset="0"/>
                <a:cs typeface="Poppins Medium" panose="00000600000000000000" pitchFamily="2" charset="0"/>
              </a:rPr>
              <a:t>millis</a:t>
            </a:r>
            <a:r>
              <a:rPr lang="en-US" altLang="zh-CN" sz="2000" dirty="0">
                <a:solidFill>
                  <a:srgbClr val="000000"/>
                </a:solidFill>
                <a:latin typeface="Aptos" panose="020B0004020202020204" pitchFamily="34" charset="0"/>
                <a:cs typeface="Poppins Medium" panose="00000600000000000000" pitchFamily="2" charset="0"/>
              </a:rPr>
              <a:t>(): Returns the time in milliseconds passed since the Arduino board began running the current program (unsigned long)</a:t>
            </a:r>
          </a:p>
          <a:p>
            <a:endParaRPr lang="en-US" altLang="zh-CN" sz="2000" dirty="0">
              <a:solidFill>
                <a:srgbClr val="000000"/>
              </a:solidFill>
              <a:latin typeface="Aptos" panose="020B0004020202020204" pitchFamily="34" charset="0"/>
              <a:cs typeface="Poppins Medium" panose="00000600000000000000" pitchFamily="2" charset="0"/>
            </a:endParaRPr>
          </a:p>
          <a:p>
            <a:r>
              <a:rPr lang="en-US" altLang="zh-CN" sz="2000" dirty="0">
                <a:solidFill>
                  <a:schemeClr val="accent2"/>
                </a:solidFill>
                <a:latin typeface="Aptos" panose="020B0004020202020204" pitchFamily="34" charset="0"/>
                <a:cs typeface="Poppins Medium" panose="00000600000000000000" pitchFamily="2" charset="0"/>
              </a:rPr>
              <a:t>micros</a:t>
            </a:r>
            <a:r>
              <a:rPr lang="en-US" altLang="zh-CN" sz="2000" dirty="0">
                <a:solidFill>
                  <a:srgbClr val="000000"/>
                </a:solidFill>
                <a:latin typeface="Aptos" panose="020B0004020202020204" pitchFamily="34" charset="0"/>
                <a:cs typeface="Poppins Medium" panose="00000600000000000000" pitchFamily="2" charset="0"/>
              </a:rPr>
              <a:t>(): </a:t>
            </a:r>
            <a:r>
              <a:rPr lang="en-US" altLang="zh-CN" sz="2000" dirty="0" err="1">
                <a:solidFill>
                  <a:schemeClr val="accent2"/>
                </a:solidFill>
                <a:latin typeface="Aptos" panose="020B0004020202020204" pitchFamily="34" charset="0"/>
                <a:cs typeface="Poppins Medium" panose="00000600000000000000" pitchFamily="2" charset="0"/>
              </a:rPr>
              <a:t>millis</a:t>
            </a:r>
            <a:r>
              <a:rPr lang="en-US" altLang="zh-CN" sz="2000" dirty="0">
                <a:solidFill>
                  <a:srgbClr val="000000"/>
                </a:solidFill>
                <a:latin typeface="Aptos" panose="020B0004020202020204" pitchFamily="34" charset="0"/>
                <a:cs typeface="Poppins Medium" panose="00000600000000000000" pitchFamily="2" charset="0"/>
              </a:rPr>
              <a:t>() but in intervals of 4 microseconds</a:t>
            </a:r>
            <a:endParaRPr lang="en-GB" altLang="zh-CN" sz="2000" dirty="0">
              <a:latin typeface="Aptos" panose="020B0004020202020204" pitchFamily="34" charset="0"/>
              <a:cs typeface="Poppins Medium" panose="00000600000000000000" pitchFamily="2" charset="0"/>
            </a:endParaRP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D83796F-1166-AD9A-FC82-B22710B669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64866"/>
            <a:ext cx="1795182" cy="89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724296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8572AEC-C939-F848-E17F-D130770B4C44}"/>
              </a:ext>
            </a:extLst>
          </p:cNvPr>
          <p:cNvSpPr txBox="1"/>
          <p:nvPr/>
        </p:nvSpPr>
        <p:spPr>
          <a:xfrm>
            <a:off x="7244862" y="552052"/>
            <a:ext cx="43756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>
                <a:latin typeface="Poppins" panose="020B0502040204020203" pitchFamily="2" charset="0"/>
                <a:cs typeface="Poppins" panose="020B0502040204020203" pitchFamily="2" charset="0"/>
              </a:rPr>
              <a:t>Sample Code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9FEC8B5-8337-54DF-F8AB-31ED9E31281F}"/>
              </a:ext>
            </a:extLst>
          </p:cNvPr>
          <p:cNvSpPr txBox="1"/>
          <p:nvPr/>
        </p:nvSpPr>
        <p:spPr>
          <a:xfrm>
            <a:off x="1750708" y="1536174"/>
            <a:ext cx="6754157" cy="37856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>
                <a:solidFill>
                  <a:srgbClr val="5AABB1"/>
                </a:solidFill>
                <a:latin typeface="Aptos" panose="020B0004020202020204" pitchFamily="34" charset="0"/>
              </a:rPr>
              <a:t>unsigned long </a:t>
            </a:r>
            <a:r>
              <a:rPr lang="en-GB" sz="2000" dirty="0" err="1">
                <a:latin typeface="Aptos" panose="020B0004020202020204" pitchFamily="34" charset="0"/>
              </a:rPr>
              <a:t>myTime</a:t>
            </a:r>
            <a:r>
              <a:rPr lang="en-GB" sz="2000" dirty="0">
                <a:latin typeface="Aptos" panose="020B0004020202020204" pitchFamily="34" charset="0"/>
              </a:rPr>
              <a:t>; </a:t>
            </a: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// store 32 bits (4 bytes)</a:t>
            </a:r>
          </a:p>
          <a:p>
            <a:endParaRPr lang="en-GB" sz="2000" dirty="0">
              <a:latin typeface="Aptos" panose="020B0004020202020204" pitchFamily="34" charset="0"/>
            </a:endParaRPr>
          </a:p>
          <a:p>
            <a:r>
              <a:rPr lang="en-GB" sz="2000" dirty="0">
                <a:solidFill>
                  <a:srgbClr val="5AABB1"/>
                </a:solidFill>
                <a:latin typeface="Aptos" panose="020B0004020202020204" pitchFamily="34" charset="0"/>
              </a:rPr>
              <a:t>void</a:t>
            </a:r>
            <a:r>
              <a:rPr lang="en-GB" sz="2000" dirty="0">
                <a:latin typeface="Aptos" panose="020B0004020202020204" pitchFamily="34" charset="0"/>
              </a:rPr>
              <a:t> </a:t>
            </a:r>
            <a:r>
              <a:rPr lang="en-GB" sz="2000" dirty="0">
                <a:solidFill>
                  <a:srgbClr val="5D6C08"/>
                </a:solidFill>
                <a:latin typeface="Aptos" panose="020B0004020202020204" pitchFamily="34" charset="0"/>
              </a:rPr>
              <a:t>setup</a:t>
            </a:r>
            <a:r>
              <a:rPr lang="en-GB" sz="2000" dirty="0">
                <a:latin typeface="Aptos" panose="020B0004020202020204" pitchFamily="34" charset="0"/>
              </a:rPr>
              <a:t>() {</a:t>
            </a:r>
          </a:p>
          <a:p>
            <a:r>
              <a:rPr lang="en-GB" sz="2000" dirty="0">
                <a:latin typeface="Aptos" panose="020B0004020202020204" pitchFamily="34" charset="0"/>
              </a:rPr>
              <a:t>  </a:t>
            </a:r>
            <a:r>
              <a:rPr lang="en-GB" sz="2000" dirty="0" err="1">
                <a:solidFill>
                  <a:schemeClr val="accent2"/>
                </a:solidFill>
                <a:latin typeface="Aptos" panose="020B0004020202020204" pitchFamily="34" charset="0"/>
              </a:rPr>
              <a:t>Serial</a:t>
            </a:r>
            <a:r>
              <a:rPr lang="en-GB" sz="2000" dirty="0" err="1">
                <a:latin typeface="Aptos" panose="020B0004020202020204" pitchFamily="34" charset="0"/>
              </a:rPr>
              <a:t>.</a:t>
            </a:r>
            <a:r>
              <a:rPr lang="en-GB" sz="2000" dirty="0" err="1">
                <a:solidFill>
                  <a:schemeClr val="accent2"/>
                </a:solidFill>
                <a:latin typeface="Aptos" panose="020B0004020202020204" pitchFamily="34" charset="0"/>
              </a:rPr>
              <a:t>begin</a:t>
            </a:r>
            <a:r>
              <a:rPr lang="en-GB" sz="2000" dirty="0">
                <a:latin typeface="Aptos" panose="020B0004020202020204" pitchFamily="34" charset="0"/>
              </a:rPr>
              <a:t>(9600);</a:t>
            </a:r>
          </a:p>
          <a:p>
            <a:r>
              <a:rPr lang="en-GB" sz="2000" dirty="0">
                <a:latin typeface="Aptos" panose="020B0004020202020204" pitchFamily="34" charset="0"/>
              </a:rPr>
              <a:t>}</a:t>
            </a:r>
          </a:p>
          <a:p>
            <a:r>
              <a:rPr lang="en-GB" sz="2000" dirty="0">
                <a:solidFill>
                  <a:srgbClr val="5AABB1"/>
                </a:solidFill>
                <a:latin typeface="Aptos" panose="020B0004020202020204" pitchFamily="34" charset="0"/>
              </a:rPr>
              <a:t>void</a:t>
            </a:r>
            <a:r>
              <a:rPr lang="en-GB" sz="2000" dirty="0">
                <a:latin typeface="Aptos" panose="020B0004020202020204" pitchFamily="34" charset="0"/>
              </a:rPr>
              <a:t> </a:t>
            </a:r>
            <a:r>
              <a:rPr lang="en-GB" sz="2000" dirty="0">
                <a:solidFill>
                  <a:srgbClr val="5D6C08"/>
                </a:solidFill>
                <a:latin typeface="Aptos" panose="020B0004020202020204" pitchFamily="34" charset="0"/>
              </a:rPr>
              <a:t>loop</a:t>
            </a:r>
            <a:r>
              <a:rPr lang="en-GB" sz="2000" dirty="0">
                <a:latin typeface="Aptos" panose="020B0004020202020204" pitchFamily="34" charset="0"/>
              </a:rPr>
              <a:t>() {</a:t>
            </a:r>
          </a:p>
          <a:p>
            <a:r>
              <a:rPr lang="en-GB" sz="2000" dirty="0">
                <a:latin typeface="Aptos" panose="020B0004020202020204" pitchFamily="34" charset="0"/>
              </a:rPr>
              <a:t>  </a:t>
            </a:r>
            <a:r>
              <a:rPr lang="en-GB" sz="2000" dirty="0" err="1">
                <a:solidFill>
                  <a:schemeClr val="accent2"/>
                </a:solidFill>
                <a:latin typeface="Aptos" panose="020B0004020202020204" pitchFamily="34" charset="0"/>
              </a:rPr>
              <a:t>Serial</a:t>
            </a:r>
            <a:r>
              <a:rPr lang="en-GB" sz="2000" dirty="0" err="1">
                <a:latin typeface="Aptos" panose="020B0004020202020204" pitchFamily="34" charset="0"/>
              </a:rPr>
              <a:t>.</a:t>
            </a:r>
            <a:r>
              <a:rPr lang="en-GB" sz="2000" dirty="0" err="1">
                <a:solidFill>
                  <a:schemeClr val="accent2"/>
                </a:solidFill>
                <a:latin typeface="Aptos" panose="020B0004020202020204" pitchFamily="34" charset="0"/>
              </a:rPr>
              <a:t>print</a:t>
            </a:r>
            <a:r>
              <a:rPr lang="en-GB" sz="2000" dirty="0">
                <a:latin typeface="Aptos" panose="020B0004020202020204" pitchFamily="34" charset="0"/>
              </a:rPr>
              <a:t>("Time: ");</a:t>
            </a:r>
          </a:p>
          <a:p>
            <a:r>
              <a:rPr lang="en-GB" sz="2000" dirty="0">
                <a:latin typeface="Aptos" panose="020B0004020202020204" pitchFamily="34" charset="0"/>
              </a:rPr>
              <a:t>  </a:t>
            </a:r>
            <a:r>
              <a:rPr lang="en-GB" sz="2000" dirty="0" err="1">
                <a:latin typeface="Aptos" panose="020B0004020202020204" pitchFamily="34" charset="0"/>
              </a:rPr>
              <a:t>myTime</a:t>
            </a:r>
            <a:r>
              <a:rPr lang="en-GB" sz="2000" dirty="0">
                <a:latin typeface="Aptos" panose="020B0004020202020204" pitchFamily="34" charset="0"/>
              </a:rPr>
              <a:t> = </a:t>
            </a:r>
            <a:r>
              <a:rPr lang="en-GB" sz="2000" dirty="0" err="1">
                <a:solidFill>
                  <a:schemeClr val="accent2"/>
                </a:solidFill>
                <a:latin typeface="Aptos" panose="020B0004020202020204" pitchFamily="34" charset="0"/>
              </a:rPr>
              <a:t>millis</a:t>
            </a:r>
            <a:r>
              <a:rPr lang="en-GB" sz="2000" dirty="0">
                <a:latin typeface="Aptos" panose="020B0004020202020204" pitchFamily="34" charset="0"/>
              </a:rPr>
              <a:t>();</a:t>
            </a:r>
          </a:p>
          <a:p>
            <a:endParaRPr lang="en-GB" sz="2000" dirty="0">
              <a:latin typeface="Aptos" panose="020B0004020202020204" pitchFamily="34" charset="0"/>
            </a:endParaRPr>
          </a:p>
          <a:p>
            <a:r>
              <a:rPr lang="en-GB" sz="2000" dirty="0">
                <a:latin typeface="Aptos" panose="020B0004020202020204" pitchFamily="34" charset="0"/>
              </a:rPr>
              <a:t>  </a:t>
            </a:r>
            <a:r>
              <a:rPr lang="en-GB" sz="2000" dirty="0" err="1">
                <a:solidFill>
                  <a:schemeClr val="accent2"/>
                </a:solidFill>
                <a:latin typeface="Aptos" panose="020B0004020202020204" pitchFamily="34" charset="0"/>
              </a:rPr>
              <a:t>Serial</a:t>
            </a:r>
            <a:r>
              <a:rPr lang="en-GB" sz="2000" dirty="0" err="1">
                <a:latin typeface="Aptos" panose="020B0004020202020204" pitchFamily="34" charset="0"/>
              </a:rPr>
              <a:t>.</a:t>
            </a:r>
            <a:r>
              <a:rPr lang="en-GB" sz="2000" dirty="0" err="1">
                <a:solidFill>
                  <a:schemeClr val="accent2"/>
                </a:solidFill>
                <a:latin typeface="Aptos" panose="020B0004020202020204" pitchFamily="34" charset="0"/>
              </a:rPr>
              <a:t>println</a:t>
            </a:r>
            <a:r>
              <a:rPr lang="en-GB" sz="2000" dirty="0">
                <a:latin typeface="Aptos" panose="020B0004020202020204" pitchFamily="34" charset="0"/>
              </a:rPr>
              <a:t>(</a:t>
            </a:r>
            <a:r>
              <a:rPr lang="en-GB" sz="2000" dirty="0" err="1">
                <a:latin typeface="Aptos" panose="020B0004020202020204" pitchFamily="34" charset="0"/>
              </a:rPr>
              <a:t>myTime</a:t>
            </a:r>
            <a:r>
              <a:rPr lang="en-GB" sz="2000" dirty="0">
                <a:latin typeface="Aptos" panose="020B0004020202020204" pitchFamily="34" charset="0"/>
              </a:rPr>
              <a:t>); </a:t>
            </a: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// prints time since program started</a:t>
            </a:r>
          </a:p>
          <a:p>
            <a:r>
              <a:rPr lang="en-GB" sz="2000" dirty="0">
                <a:latin typeface="Aptos" panose="020B0004020202020204" pitchFamily="34" charset="0"/>
              </a:rPr>
              <a:t>  </a:t>
            </a:r>
            <a:r>
              <a:rPr lang="en-GB" sz="2000" dirty="0">
                <a:solidFill>
                  <a:schemeClr val="accent2"/>
                </a:solidFill>
                <a:latin typeface="Aptos" panose="020B0004020202020204" pitchFamily="34" charset="0"/>
              </a:rPr>
              <a:t>delay</a:t>
            </a:r>
            <a:r>
              <a:rPr lang="en-GB" sz="2000" dirty="0">
                <a:latin typeface="Aptos" panose="020B0004020202020204" pitchFamily="34" charset="0"/>
              </a:rPr>
              <a:t>(1000);   </a:t>
            </a:r>
            <a:r>
              <a:rPr lang="en-GB" sz="2000" dirty="0">
                <a:solidFill>
                  <a:schemeClr val="tx1">
                    <a:lumMod val="50000"/>
                    <a:lumOff val="50000"/>
                  </a:schemeClr>
                </a:solidFill>
                <a:latin typeface="Aptos" panose="020B0004020202020204" pitchFamily="34" charset="0"/>
              </a:rPr>
              <a:t>// wait 1 second</a:t>
            </a:r>
          </a:p>
          <a:p>
            <a:r>
              <a:rPr lang="en-GB" sz="2000" dirty="0">
                <a:latin typeface="Aptos" panose="020B0004020202020204" pitchFamily="34" charset="0"/>
              </a:rPr>
              <a:t>}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B1346ACE-C0FA-ACA8-C751-29B23BD9C67F}"/>
              </a:ext>
            </a:extLst>
          </p:cNvPr>
          <p:cNvSpPr txBox="1"/>
          <p:nvPr/>
        </p:nvSpPr>
        <p:spPr>
          <a:xfrm>
            <a:off x="2896215" y="6488668"/>
            <a:ext cx="70086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/>
              <a:t>https://www.arduino.cc/reference/en/language/functions/time/millis/</a:t>
            </a:r>
            <a:endParaRPr lang="en-GB" dirty="0"/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7B322954-626C-A12B-59BA-D650B69CBE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64866"/>
            <a:ext cx="1795182" cy="89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15771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87D886-CBDC-6864-61FC-C94E3A892CD0}"/>
              </a:ext>
            </a:extLst>
          </p:cNvPr>
          <p:cNvSpPr txBox="1"/>
          <p:nvPr/>
        </p:nvSpPr>
        <p:spPr>
          <a:xfrm>
            <a:off x="7244862" y="552052"/>
            <a:ext cx="43756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>
                <a:latin typeface="Poppins" panose="020B0502040204020203" pitchFamily="2" charset="0"/>
                <a:cs typeface="Poppins" panose="020B0502040204020203" pitchFamily="2" charset="0"/>
              </a:rPr>
              <a:t>Sample Code</a:t>
            </a:r>
          </a:p>
        </p:txBody>
      </p:sp>
      <p:pic>
        <p:nvPicPr>
          <p:cNvPr id="1026" name="Picture 2" descr="img">
            <a:extLst>
              <a:ext uri="{FF2B5EF4-FFF2-40B4-BE49-F238E27FC236}">
                <a16:creationId xmlns:a16="http://schemas.microsoft.com/office/drawing/2014/main" id="{A4DD43BB-DB61-5EFA-5C8F-D88E30CA3F5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30126" y="1587316"/>
            <a:ext cx="5531748" cy="36833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541B1E96-2357-E25E-4C7A-79B3A582F55E}"/>
              </a:ext>
            </a:extLst>
          </p:cNvPr>
          <p:cNvSpPr txBox="1"/>
          <p:nvPr/>
        </p:nvSpPr>
        <p:spPr>
          <a:xfrm>
            <a:off x="3314629" y="6488668"/>
            <a:ext cx="55627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https://docs.arduino.cc/learn/programming/functions/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3A52AB4B-7D9F-C05B-89C8-8546F95A0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64866"/>
            <a:ext cx="1795182" cy="89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001266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Servo Motor Wiring">
            <a:extLst>
              <a:ext uri="{FF2B5EF4-FFF2-40B4-BE49-F238E27FC236}">
                <a16:creationId xmlns:a16="http://schemas.microsoft.com/office/drawing/2014/main" id="{D03B0F27-07F2-24E0-7BA2-7E0C62FB09B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9797" y="3280322"/>
            <a:ext cx="3977640" cy="28355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E87D886-CBDC-6864-61FC-C94E3A892CD0}"/>
              </a:ext>
            </a:extLst>
          </p:cNvPr>
          <p:cNvSpPr txBox="1"/>
          <p:nvPr/>
        </p:nvSpPr>
        <p:spPr>
          <a:xfrm>
            <a:off x="7244862" y="552052"/>
            <a:ext cx="43756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>
                <a:latin typeface="Poppins" panose="020B0502040204020203" pitchFamily="2" charset="0"/>
                <a:cs typeface="Poppins" panose="020B0502040204020203" pitchFamily="2" charset="0"/>
              </a:rPr>
              <a:t>Let's make a Catapult!</a:t>
            </a:r>
            <a:endParaRPr lang="en-GB" sz="2800" b="1" dirty="0"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056D2E-265D-76D1-16AB-A387E7BC5861}"/>
              </a:ext>
            </a:extLst>
          </p:cNvPr>
          <p:cNvSpPr txBox="1"/>
          <p:nvPr/>
        </p:nvSpPr>
        <p:spPr>
          <a:xfrm>
            <a:off x="848916" y="3846456"/>
            <a:ext cx="6849685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/>
              <a:t>The Arduino controls the servo by sending </a:t>
            </a:r>
            <a:r>
              <a:rPr lang="en-GB" sz="2000" b="1" dirty="0"/>
              <a:t>PWM (Pulse Width Modulation)</a:t>
            </a:r>
            <a:r>
              <a:rPr lang="en-GB" sz="2000" dirty="0"/>
              <a:t> signals - short pulses that tell the servo what angle to move to.</a:t>
            </a:r>
          </a:p>
          <a:p>
            <a:endParaRPr lang="en-GB" sz="2000" dirty="0"/>
          </a:p>
          <a:p>
            <a:r>
              <a:rPr lang="en-GB" sz="2000" dirty="0"/>
              <a:t>You need the Arduino ‘Servo’ library makes them easy to control with just a few lines of code.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062D23-2EC8-FA51-4D36-4685DFF1E961}"/>
              </a:ext>
            </a:extLst>
          </p:cNvPr>
          <p:cNvSpPr txBox="1"/>
          <p:nvPr/>
        </p:nvSpPr>
        <p:spPr>
          <a:xfrm>
            <a:off x="2463384" y="6488668"/>
            <a:ext cx="72652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https://techknowlab.com/servo-motor-arduino-control-basics/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1D3C968-84F8-E92D-6661-B40BC4254CE6}"/>
              </a:ext>
            </a:extLst>
          </p:cNvPr>
          <p:cNvSpPr txBox="1"/>
          <p:nvPr/>
        </p:nvSpPr>
        <p:spPr>
          <a:xfrm>
            <a:off x="848916" y="1577958"/>
            <a:ext cx="1049416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/>
              <a:t>A </a:t>
            </a:r>
            <a:r>
              <a:rPr lang="en-GB" sz="2000" b="1" dirty="0"/>
              <a:t>servo motor</a:t>
            </a:r>
            <a:r>
              <a:rPr lang="en-GB" sz="2000" dirty="0"/>
              <a:t> is a usually between </a:t>
            </a:r>
            <a:r>
              <a:rPr lang="en-GB" sz="2000" b="1" dirty="0"/>
              <a:t>0° and 180°</a:t>
            </a:r>
            <a:r>
              <a:rPr lang="en-GB" sz="2000" dirty="0"/>
              <a:t>. It is a small motor with a built-in </a:t>
            </a:r>
            <a:r>
              <a:rPr lang="en-GB" sz="2000" b="1" dirty="0"/>
              <a:t>feedback system</a:t>
            </a:r>
            <a:r>
              <a:rPr lang="en-GB" sz="2000" dirty="0"/>
              <a:t> that allows it to rotate to a specific angle.</a:t>
            </a:r>
          </a:p>
          <a:p>
            <a:endParaRPr lang="en-GB" sz="2000" dirty="0"/>
          </a:p>
          <a:p>
            <a:r>
              <a:rPr lang="en-GB" sz="2000" b="1" dirty="0">
                <a:solidFill>
                  <a:srgbClr val="FFC000"/>
                </a:solidFill>
              </a:rPr>
              <a:t>1. Signal</a:t>
            </a:r>
            <a:r>
              <a:rPr lang="en-GB" sz="2000" dirty="0">
                <a:solidFill>
                  <a:srgbClr val="FFC000"/>
                </a:solidFill>
              </a:rPr>
              <a:t> </a:t>
            </a:r>
            <a:r>
              <a:rPr lang="en-GB" sz="2000" dirty="0"/>
              <a:t>– connected to an Arduino pin that sends control pulses</a:t>
            </a:r>
          </a:p>
          <a:p>
            <a:r>
              <a:rPr lang="en-GB" sz="2000" b="1" dirty="0">
                <a:solidFill>
                  <a:srgbClr val="FF0000"/>
                </a:solidFill>
              </a:rPr>
              <a:t>2. Power (VCC)</a:t>
            </a:r>
            <a:r>
              <a:rPr lang="en-GB" sz="2000" dirty="0"/>
              <a:t> – usually 5V</a:t>
            </a:r>
          </a:p>
          <a:p>
            <a:r>
              <a:rPr lang="en-GB" sz="2000" b="1" dirty="0">
                <a:solidFill>
                  <a:srgbClr val="C00000"/>
                </a:solidFill>
              </a:rPr>
              <a:t>3. Ground (GND)</a:t>
            </a:r>
            <a:endParaRPr lang="en-GB" sz="2000" dirty="0">
              <a:solidFill>
                <a:srgbClr val="C00000"/>
              </a:solidFill>
            </a:endParaRP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B3A93F59-6CAB-4835-95FE-964E3CAD6E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64866"/>
            <a:ext cx="1795182" cy="89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67300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87D886-CBDC-6864-61FC-C94E3A892CD0}"/>
              </a:ext>
            </a:extLst>
          </p:cNvPr>
          <p:cNvSpPr txBox="1"/>
          <p:nvPr/>
        </p:nvSpPr>
        <p:spPr>
          <a:xfrm>
            <a:off x="7244862" y="552052"/>
            <a:ext cx="437563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>
                <a:latin typeface="Poppins" panose="020B0502040204020203" pitchFamily="2" charset="0"/>
                <a:cs typeface="Poppins" panose="020B0502040204020203" pitchFamily="2" charset="0"/>
              </a:rPr>
              <a:t>Connections </a:t>
            </a:r>
          </a:p>
          <a:p>
            <a:pPr algn="r"/>
            <a:endParaRPr lang="en-GB" sz="2800" b="1" dirty="0"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3029607-A76B-F9D8-DF1C-B2D81E4B7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5164" y="1028700"/>
            <a:ext cx="6683971" cy="5829300"/>
          </a:xfrm>
          <a:prstGeom prst="rect">
            <a:avLst/>
          </a:prstGeom>
        </p:spPr>
      </p:pic>
      <p:pic>
        <p:nvPicPr>
          <p:cNvPr id="2" name="Picture 2">
            <a:extLst>
              <a:ext uri="{FF2B5EF4-FFF2-40B4-BE49-F238E27FC236}">
                <a16:creationId xmlns:a16="http://schemas.microsoft.com/office/drawing/2014/main" id="{EACD5F36-42D4-27DB-2222-066C7560D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64866"/>
            <a:ext cx="1795182" cy="89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20499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87D886-CBDC-6864-61FC-C94E3A892CD0}"/>
              </a:ext>
            </a:extLst>
          </p:cNvPr>
          <p:cNvSpPr txBox="1"/>
          <p:nvPr/>
        </p:nvSpPr>
        <p:spPr>
          <a:xfrm>
            <a:off x="6296751" y="552052"/>
            <a:ext cx="5323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>
                <a:latin typeface="Poppins" panose="020B0502040204020203" pitchFamily="2" charset="0"/>
                <a:cs typeface="Poppins" panose="020B0502040204020203" pitchFamily="2" charset="0"/>
              </a:rPr>
              <a:t>Attaching the catapult arm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55ADB2-BE12-E6EC-B885-8E6C653E09AA}"/>
              </a:ext>
            </a:extLst>
          </p:cNvPr>
          <p:cNvSpPr txBox="1"/>
          <p:nvPr/>
        </p:nvSpPr>
        <p:spPr>
          <a:xfrm>
            <a:off x="746760" y="2074783"/>
            <a:ext cx="5090160" cy="27084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GB" sz="2000" dirty="0">
                <a:ea typeface="DengXian" panose="02010600030101010101" pitchFamily="2" charset="-122"/>
                <a:cs typeface="Times New Roman" panose="02020603050405020304" pitchFamily="18" charset="0"/>
              </a:rPr>
              <a:t>Write the following code: ‘</a:t>
            </a:r>
            <a:r>
              <a:rPr lang="en-GB" sz="2000" dirty="0" err="1">
                <a:solidFill>
                  <a:srgbClr val="D354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servo</a:t>
            </a:r>
            <a:r>
              <a:rPr lang="en-GB" sz="2000" dirty="0" err="1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000" dirty="0" err="1">
                <a:solidFill>
                  <a:srgbClr val="D354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write</a:t>
            </a:r>
            <a:r>
              <a:rPr lang="en-GB" sz="2000" dirty="0">
                <a:solidFill>
                  <a:srgbClr val="434F54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000" dirty="0">
                <a:solidFill>
                  <a:srgbClr val="005C5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GB" sz="2000" dirty="0">
                <a:solidFill>
                  <a:srgbClr val="434F54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sz="2000" dirty="0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GB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’ in the:</a:t>
            </a:r>
            <a:br>
              <a:rPr lang="en-GB" sz="20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</a:br>
            <a:r>
              <a:rPr lang="en-GB" sz="2000" dirty="0">
                <a:solidFill>
                  <a:srgbClr val="00979D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GB" sz="2000" dirty="0">
                <a:solidFill>
                  <a:srgbClr val="4E5B61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solidFill>
                  <a:srgbClr val="D35400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GB" sz="2000" dirty="0">
                <a:solidFill>
                  <a:srgbClr val="434F5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(){</a:t>
            </a:r>
            <a:br>
              <a:rPr lang="en-GB" sz="2000" dirty="0">
                <a:solidFill>
                  <a:srgbClr val="434F54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>
                <a:solidFill>
                  <a:srgbClr val="434F54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r>
              <a:rPr lang="en-GB" sz="2000" dirty="0">
                <a:solidFill>
                  <a:srgbClr val="434F5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//Put your main code here: </a:t>
            </a:r>
            <a:br>
              <a:rPr lang="en-GB" sz="2000" dirty="0">
                <a:solidFill>
                  <a:srgbClr val="434F5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GB" sz="2000" dirty="0">
                <a:solidFill>
                  <a:srgbClr val="434F5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r>
              <a:rPr lang="en-GB" sz="2000" b="1" dirty="0">
                <a:solidFill>
                  <a:srgbClr val="434F54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GB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Attach the catapult arm as shown.</a:t>
            </a:r>
          </a:p>
          <a:p>
            <a:pPr marL="342900" indent="-342900">
              <a:spcAft>
                <a:spcPts val="600"/>
              </a:spcAft>
              <a:buFontTx/>
              <a:buAutoNum type="arabicPeriod"/>
            </a:pPr>
            <a:r>
              <a:rPr lang="en-GB" sz="2000" dirty="0"/>
              <a:t>Ensure you put a </a:t>
            </a:r>
            <a:r>
              <a:rPr lang="en-GB" sz="2000" b="1" dirty="0"/>
              <a:t>screw</a:t>
            </a:r>
            <a:r>
              <a:rPr lang="en-GB" sz="2000" dirty="0"/>
              <a:t> through the servo horn securely! </a:t>
            </a:r>
          </a:p>
        </p:txBody>
      </p:sp>
      <p:pic>
        <p:nvPicPr>
          <p:cNvPr id="6" name="Picture 5" descr="A close-up of a radio control&#10;&#10;AI-generated content may be incorrect.">
            <a:extLst>
              <a:ext uri="{FF2B5EF4-FFF2-40B4-BE49-F238E27FC236}">
                <a16:creationId xmlns:a16="http://schemas.microsoft.com/office/drawing/2014/main" id="{F7FF29DD-ABC2-9C91-51AC-C53B9633F04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499" t="20555" r="8737" b="39445"/>
          <a:stretch>
            <a:fillRect/>
          </a:stretch>
        </p:blipFill>
        <p:spPr bwMode="auto">
          <a:xfrm>
            <a:off x="6296751" y="1324575"/>
            <a:ext cx="5429885" cy="233172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 descr="A long black object with wires&#10;&#10;AI-generated content may be incorrect.">
            <a:extLst>
              <a:ext uri="{FF2B5EF4-FFF2-40B4-BE49-F238E27FC236}">
                <a16:creationId xmlns:a16="http://schemas.microsoft.com/office/drawing/2014/main" id="{75F4E289-67BE-4D1A-2052-D75220D7EFA5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898" t="41851" r="4854" b="30556"/>
          <a:stretch>
            <a:fillRect/>
          </a:stretch>
        </p:blipFill>
        <p:spPr bwMode="auto">
          <a:xfrm>
            <a:off x="6296751" y="4097417"/>
            <a:ext cx="5458460" cy="1371600"/>
          </a:xfrm>
          <a:prstGeom prst="rect">
            <a:avLst/>
          </a:prstGeom>
          <a:noFill/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9C969B9-B939-FA94-AACF-017655AF2B98}"/>
              </a:ext>
            </a:extLst>
          </p:cNvPr>
          <p:cNvSpPr txBox="1"/>
          <p:nvPr/>
        </p:nvSpPr>
        <p:spPr>
          <a:xfrm>
            <a:off x="6433718" y="3471629"/>
            <a:ext cx="39279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Top view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3CC1BA-1A38-1399-28C9-19F3720CF674}"/>
              </a:ext>
            </a:extLst>
          </p:cNvPr>
          <p:cNvSpPr txBox="1"/>
          <p:nvPr/>
        </p:nvSpPr>
        <p:spPr>
          <a:xfrm>
            <a:off x="6433718" y="5540807"/>
            <a:ext cx="1343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Side View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154E37C-E85D-B8A3-B435-03F30494F8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64866"/>
            <a:ext cx="1795182" cy="89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052948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769D3-8156-6E44-6B3A-DBA09399B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FBE2E60-0907-1584-C2B4-F513CC9B4DDD}"/>
              </a:ext>
            </a:extLst>
          </p:cNvPr>
          <p:cNvSpPr txBox="1"/>
          <p:nvPr/>
        </p:nvSpPr>
        <p:spPr>
          <a:xfrm>
            <a:off x="7244862" y="552052"/>
            <a:ext cx="43756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>
                <a:latin typeface="Poppins" panose="020B0502040204020203" pitchFamily="2" charset="0"/>
                <a:cs typeface="Poppins" panose="020B0502040204020203" pitchFamily="2" charset="0"/>
              </a:rPr>
              <a:t>The Goal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057E5A-A956-80C1-E9FD-DD13645058E3}"/>
              </a:ext>
            </a:extLst>
          </p:cNvPr>
          <p:cNvSpPr txBox="1"/>
          <p:nvPr/>
        </p:nvSpPr>
        <p:spPr>
          <a:xfrm>
            <a:off x="1827372" y="2228672"/>
            <a:ext cx="8537257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GB" sz="20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Objective</a:t>
            </a:r>
            <a:r>
              <a:rPr lang="en-GB" sz="20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: make the catapult launch a projectile </a:t>
            </a:r>
            <a:r>
              <a:rPr lang="en-GB" sz="2000" b="1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as far as possible </a:t>
            </a:r>
            <a:r>
              <a:rPr lang="en-GB" sz="20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when the button is pressed. To do this, you must: 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sz="20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Start the catapult at a known initial position.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sz="20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Wait and constantly check for a button press.</a:t>
            </a:r>
          </a:p>
          <a:p>
            <a:pPr marL="457200" lvl="0" indent="-457200">
              <a:buFont typeface="+mj-lt"/>
              <a:buAutoNum type="arabicPeriod"/>
            </a:pPr>
            <a:r>
              <a:rPr lang="en-GB" sz="20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IF the button is pressed, flip the catapult up to some end position.</a:t>
            </a:r>
          </a:p>
          <a:p>
            <a:pPr marL="457200" lvl="0" indent="-457200">
              <a:spcAft>
                <a:spcPts val="600"/>
              </a:spcAft>
              <a:buFont typeface="+mj-lt"/>
              <a:buAutoNum type="arabicPeriod"/>
            </a:pPr>
            <a:r>
              <a:rPr lang="en-GB" sz="20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Then reset the catapult back to its initial position.</a:t>
            </a:r>
          </a:p>
          <a:p>
            <a:pPr>
              <a:spcAft>
                <a:spcPts val="600"/>
              </a:spcAft>
              <a:buNone/>
            </a:pPr>
            <a:r>
              <a:rPr lang="en-GB" sz="2000" dirty="0">
                <a:effectLst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E17B0DE5-7E00-DB52-A93D-6EB973573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64866"/>
            <a:ext cx="1795182" cy="89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238017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5E507-D8FF-D81C-D607-DFD9B7ED2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CD7133E-BEDF-9056-90E9-DAD872120323}"/>
              </a:ext>
            </a:extLst>
          </p:cNvPr>
          <p:cNvSpPr txBox="1"/>
          <p:nvPr/>
        </p:nvSpPr>
        <p:spPr>
          <a:xfrm>
            <a:off x="7244862" y="552052"/>
            <a:ext cx="43756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>
                <a:latin typeface="Poppins" panose="020B0502040204020203" pitchFamily="2" charset="0"/>
                <a:cs typeface="Poppins" panose="020B0502040204020203" pitchFamily="2" charset="0"/>
              </a:rPr>
              <a:t>The Code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CC8C75-F0F9-53ED-2AAD-CA0428BFE037}"/>
              </a:ext>
            </a:extLst>
          </p:cNvPr>
          <p:cNvSpPr txBox="1"/>
          <p:nvPr/>
        </p:nvSpPr>
        <p:spPr>
          <a:xfrm>
            <a:off x="2550546" y="2437828"/>
            <a:ext cx="709090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 dirty="0">
                <a:ea typeface="DengXian" panose="02010600030101010101" pitchFamily="2" charset="-122"/>
                <a:cs typeface="Times New Roman" panose="02020603050405020304" pitchFamily="18" charset="0"/>
              </a:rPr>
              <a:t>To achieve this, you may find the following code blocks useful to put inside the </a:t>
            </a:r>
            <a:r>
              <a:rPr lang="en-GB" sz="2000" dirty="0">
                <a:solidFill>
                  <a:srgbClr val="00979D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GB" sz="2000" dirty="0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solidFill>
                  <a:srgbClr val="D354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GB" sz="2000" dirty="0">
                <a:solidFill>
                  <a:srgbClr val="434F54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  <a:endParaRPr lang="en-GB" sz="20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GB" sz="2000" dirty="0"/>
          </a:p>
          <a:p>
            <a:r>
              <a:rPr lang="en-GB" sz="2000" dirty="0"/>
              <a:t>You can find the sample code here: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185F846-802D-0718-E0B3-41BF9C1EC0F9}"/>
              </a:ext>
            </a:extLst>
          </p:cNvPr>
          <p:cNvSpPr txBox="1"/>
          <p:nvPr/>
        </p:nvSpPr>
        <p:spPr>
          <a:xfrm>
            <a:off x="1337234" y="4340270"/>
            <a:ext cx="951752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3200" u="sng" dirty="0">
                <a:hlinkClick r:id="rId2"/>
              </a:rPr>
              <a:t>https://beta.flemingsociety.com/arduino-workshop/</a:t>
            </a:r>
            <a:endParaRPr lang="en-GB" sz="32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D889087-8D8B-29D7-95E8-ABDC65B667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64866"/>
            <a:ext cx="1795182" cy="89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088393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C8D1F0-770D-3B85-F215-3F0F873913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80A6AA85-1F6F-10FC-C38F-5E979EF47C8C}"/>
              </a:ext>
            </a:extLst>
          </p:cNvPr>
          <p:cNvSpPr txBox="1"/>
          <p:nvPr/>
        </p:nvSpPr>
        <p:spPr>
          <a:xfrm>
            <a:off x="7244862" y="552052"/>
            <a:ext cx="437563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>
                <a:latin typeface="Poppins" panose="020B0502040204020203" pitchFamily="2" charset="0"/>
                <a:cs typeface="Poppins" panose="020B0502040204020203" pitchFamily="2" charset="0"/>
              </a:rPr>
              <a:t>The Code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20F63EE-1716-3BDB-6CF2-EDADD9BAF82D}"/>
              </a:ext>
            </a:extLst>
          </p:cNvPr>
          <p:cNvSpPr txBox="1"/>
          <p:nvPr/>
        </p:nvSpPr>
        <p:spPr>
          <a:xfrm>
            <a:off x="904799" y="1434961"/>
            <a:ext cx="103824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GB" sz="2000" dirty="0">
                <a:ea typeface="DengXian" panose="02010600030101010101" pitchFamily="2" charset="-122"/>
                <a:cs typeface="Times New Roman" panose="02020603050405020304" pitchFamily="18" charset="0"/>
              </a:rPr>
              <a:t>To achieve this, you may find the following code blocks useful to put inside the </a:t>
            </a:r>
            <a:r>
              <a:rPr lang="en-GB" sz="2000" b="1" dirty="0">
                <a:solidFill>
                  <a:srgbClr val="00979D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en-GB" sz="2000" b="1" dirty="0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b="1" dirty="0">
                <a:solidFill>
                  <a:srgbClr val="D354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loop</a:t>
            </a:r>
            <a:r>
              <a:rPr lang="en-GB" sz="2000" b="1" dirty="0">
                <a:solidFill>
                  <a:srgbClr val="434F54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():</a:t>
            </a:r>
            <a:endParaRPr lang="en-GB" sz="20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A05B75-F8B9-924D-3273-A1DD2B254CA9}"/>
              </a:ext>
            </a:extLst>
          </p:cNvPr>
          <p:cNvSpPr txBox="1"/>
          <p:nvPr/>
        </p:nvSpPr>
        <p:spPr>
          <a:xfrm>
            <a:off x="5818890" y="1937463"/>
            <a:ext cx="5939267" cy="3760517"/>
          </a:xfrm>
          <a:prstGeom prst="rect">
            <a:avLst/>
          </a:prstGeom>
          <a:noFill/>
          <a:ln w="19050">
            <a:noFill/>
          </a:ln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  <a:buNone/>
            </a:pPr>
            <a:r>
              <a:rPr lang="en-GB" sz="2000" b="1" dirty="0">
                <a:solidFill>
                  <a:srgbClr val="404040"/>
                </a:solidFill>
                <a:ea typeface="DengXian Light" panose="02010600030101010101" pitchFamily="2" charset="-122"/>
                <a:cs typeface="Times New Roman" panose="02020603050405020304" pitchFamily="18" charset="0"/>
              </a:rPr>
              <a:t>Detecting a button press </a:t>
            </a:r>
          </a:p>
          <a:p>
            <a:pPr lvl="0">
              <a:spcAft>
                <a:spcPts val="600"/>
              </a:spcAft>
            </a:pPr>
            <a:r>
              <a:rPr lang="en-GB" sz="2000" dirty="0">
                <a:ea typeface="DengXian" panose="02010600030101010101" pitchFamily="2" charset="-122"/>
                <a:cs typeface="Times New Roman" panose="02020603050405020304" pitchFamily="18" charset="0"/>
              </a:rPr>
              <a:t>      Method 1: </a:t>
            </a:r>
          </a:p>
          <a:p>
            <a:pPr marL="914400">
              <a:lnSpc>
                <a:spcPts val="1425"/>
              </a:lnSpc>
              <a:spcAft>
                <a:spcPts val="600"/>
              </a:spcAft>
              <a:buNone/>
            </a:pPr>
            <a:r>
              <a:rPr lang="en-GB" sz="2000" dirty="0" err="1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button_state</a:t>
            </a:r>
            <a:r>
              <a:rPr lang="en-GB" sz="2000" dirty="0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sz="2000" dirty="0" err="1">
                <a:solidFill>
                  <a:srgbClr val="D354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digitalRead</a:t>
            </a:r>
            <a:r>
              <a:rPr lang="en-GB" sz="2000" dirty="0">
                <a:solidFill>
                  <a:srgbClr val="434F54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000" dirty="0" err="1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button_pin</a:t>
            </a:r>
            <a:r>
              <a:rPr lang="en-GB" sz="2000" dirty="0">
                <a:solidFill>
                  <a:srgbClr val="434F54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sz="2000" dirty="0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GB" sz="20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914400">
              <a:lnSpc>
                <a:spcPts val="1425"/>
              </a:lnSpc>
              <a:spcAft>
                <a:spcPts val="600"/>
              </a:spcAft>
              <a:buNone/>
            </a:pPr>
            <a:r>
              <a:rPr lang="en-GB" sz="2000" dirty="0">
                <a:solidFill>
                  <a:srgbClr val="728E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GB" sz="2000" dirty="0">
                <a:solidFill>
                  <a:srgbClr val="434F54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000" dirty="0" err="1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button_state</a:t>
            </a:r>
            <a:r>
              <a:rPr lang="en-GB" sz="2000" dirty="0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== LOW</a:t>
            </a:r>
            <a:r>
              <a:rPr lang="en-GB" sz="2000" dirty="0">
                <a:solidFill>
                  <a:srgbClr val="434F54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){</a:t>
            </a:r>
            <a:endParaRPr lang="en-GB" sz="20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914400">
              <a:lnSpc>
                <a:spcPts val="1425"/>
              </a:lnSpc>
              <a:spcAft>
                <a:spcPts val="600"/>
              </a:spcAft>
              <a:buNone/>
            </a:pPr>
            <a:r>
              <a:rPr lang="en-GB" sz="2000" dirty="0">
                <a:solidFill>
                  <a:srgbClr val="95A5A6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    // CODE IN HERE </a:t>
            </a:r>
            <a:endParaRPr lang="en-GB" sz="20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914400">
              <a:lnSpc>
                <a:spcPts val="1425"/>
              </a:lnSpc>
              <a:spcAft>
                <a:spcPts val="600"/>
              </a:spcAft>
              <a:buNone/>
            </a:pPr>
            <a:r>
              <a:rPr lang="en-GB" sz="2000" dirty="0">
                <a:solidFill>
                  <a:srgbClr val="95A5A6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    // will be executed if the condition is TRUE </a:t>
            </a:r>
            <a:endParaRPr lang="en-GB" sz="20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914400">
              <a:lnSpc>
                <a:spcPts val="1425"/>
              </a:lnSpc>
              <a:spcAft>
                <a:spcPts val="600"/>
              </a:spcAft>
              <a:buNone/>
            </a:pPr>
            <a:r>
              <a:rPr lang="en-GB" sz="2000" dirty="0">
                <a:solidFill>
                  <a:srgbClr val="434F54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GB" sz="20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0">
              <a:spcAft>
                <a:spcPts val="600"/>
              </a:spcAft>
            </a:pPr>
            <a:r>
              <a:rPr lang="en-GB" sz="2000" dirty="0">
                <a:ea typeface="DengXian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GB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Method 2:</a:t>
            </a:r>
            <a:endParaRPr lang="en-GB" sz="20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914400">
              <a:lnSpc>
                <a:spcPts val="1425"/>
              </a:lnSpc>
              <a:spcAft>
                <a:spcPts val="600"/>
              </a:spcAft>
              <a:buNone/>
            </a:pPr>
            <a:r>
              <a:rPr lang="en-GB" sz="2000" dirty="0" err="1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button_state</a:t>
            </a:r>
            <a:r>
              <a:rPr lang="en-GB" sz="2000" dirty="0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sz="2000" dirty="0" err="1">
                <a:solidFill>
                  <a:srgbClr val="D354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digitalRead</a:t>
            </a:r>
            <a:r>
              <a:rPr lang="en-GB" sz="2000" dirty="0">
                <a:solidFill>
                  <a:srgbClr val="434F54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000" dirty="0" err="1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button_pin</a:t>
            </a:r>
            <a:r>
              <a:rPr lang="en-GB" sz="2000" dirty="0">
                <a:solidFill>
                  <a:srgbClr val="434F54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sz="2000" dirty="0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GB" sz="20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914400">
              <a:lnSpc>
                <a:spcPts val="1425"/>
              </a:lnSpc>
              <a:spcAft>
                <a:spcPts val="600"/>
              </a:spcAft>
              <a:buNone/>
            </a:pPr>
            <a:r>
              <a:rPr lang="en-GB" sz="2000" dirty="0">
                <a:solidFill>
                  <a:srgbClr val="728E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if</a:t>
            </a:r>
            <a:r>
              <a:rPr lang="en-GB" sz="2000" dirty="0">
                <a:solidFill>
                  <a:srgbClr val="434F54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000" dirty="0" err="1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button_state</a:t>
            </a:r>
            <a:r>
              <a:rPr lang="en-GB" sz="2000" dirty="0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== HIGH</a:t>
            </a:r>
            <a:r>
              <a:rPr lang="en-GB" sz="2000" dirty="0">
                <a:solidFill>
                  <a:srgbClr val="434F54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){</a:t>
            </a:r>
            <a:endParaRPr lang="en-GB" sz="20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914400">
              <a:lnSpc>
                <a:spcPts val="1425"/>
              </a:lnSpc>
              <a:spcAft>
                <a:spcPts val="600"/>
              </a:spcAft>
              <a:buNone/>
            </a:pPr>
            <a:r>
              <a:rPr lang="en-GB" sz="2000" dirty="0">
                <a:solidFill>
                  <a:srgbClr val="95A5A6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    // CODE IN HERE </a:t>
            </a:r>
            <a:endParaRPr lang="en-GB" sz="20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914400">
              <a:lnSpc>
                <a:spcPts val="1425"/>
              </a:lnSpc>
              <a:spcAft>
                <a:spcPts val="600"/>
              </a:spcAft>
              <a:buNone/>
            </a:pPr>
            <a:r>
              <a:rPr lang="en-GB" sz="2000" dirty="0">
                <a:solidFill>
                  <a:srgbClr val="95A5A6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    // will be executed if the condition is TRUE </a:t>
            </a:r>
            <a:endParaRPr lang="en-GB" sz="20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914400">
              <a:lnSpc>
                <a:spcPts val="1425"/>
              </a:lnSpc>
              <a:spcAft>
                <a:spcPts val="600"/>
              </a:spcAft>
              <a:buNone/>
            </a:pPr>
            <a:r>
              <a:rPr lang="en-GB" sz="2000" dirty="0">
                <a:solidFill>
                  <a:srgbClr val="434F54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GB" sz="2000" dirty="0"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487C07-446E-3CB5-B156-12973CD2F90D}"/>
              </a:ext>
            </a:extLst>
          </p:cNvPr>
          <p:cNvSpPr txBox="1"/>
          <p:nvPr/>
        </p:nvSpPr>
        <p:spPr>
          <a:xfrm>
            <a:off x="433844" y="1937463"/>
            <a:ext cx="5385046" cy="4445897"/>
          </a:xfrm>
          <a:prstGeom prst="rect">
            <a:avLst/>
          </a:prstGeom>
          <a:noFill/>
          <a:ln w="19050">
            <a:noFill/>
          </a:ln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buNone/>
            </a:pPr>
            <a:r>
              <a:rPr lang="en-GB" sz="2000" b="1" dirty="0">
                <a:solidFill>
                  <a:srgbClr val="404040"/>
                </a:solidFill>
                <a:ea typeface="DengXian Light" panose="02010600030101010101" pitchFamily="2" charset="-122"/>
                <a:cs typeface="Times New Roman" panose="02020603050405020304" pitchFamily="18" charset="0"/>
              </a:rPr>
              <a:t>Moving the servo </a:t>
            </a:r>
          </a:p>
          <a:p>
            <a:pPr marL="342900" lvl="0" indent="-342900">
              <a:spcAft>
                <a:spcPts val="600"/>
              </a:spcAft>
              <a:buFont typeface="+mj-lt"/>
              <a:buAutoNum type="arabicPeriod"/>
            </a:pPr>
            <a:r>
              <a:rPr lang="en-GB" sz="2000" dirty="0">
                <a:ea typeface="DengXian" panose="02010600030101010101" pitchFamily="2" charset="-122"/>
                <a:cs typeface="Times New Roman" panose="02020603050405020304" pitchFamily="18" charset="0"/>
              </a:rPr>
              <a:t>Rotate the servo to </a:t>
            </a:r>
            <a:r>
              <a:rPr lang="en-GB" sz="2000" i="1" dirty="0">
                <a:latin typeface="Times New Roman" panose="02020603050405020304" pitchFamily="18" charset="0"/>
                <a:ea typeface="DengXian" panose="02010600030101010101" pitchFamily="2" charset="-122"/>
                <a:cs typeface="Times New Roman" panose="02020603050405020304" pitchFamily="18" charset="0"/>
              </a:rPr>
              <a:t>x</a:t>
            </a:r>
            <a:r>
              <a:rPr lang="en-GB" sz="2000" baseline="30000" dirty="0">
                <a:ea typeface="DengXian" panose="02010600030101010101" pitchFamily="2" charset="-122"/>
                <a:cs typeface="Times New Roman" panose="02020603050405020304" pitchFamily="18" charset="0"/>
              </a:rPr>
              <a:t>o</a:t>
            </a:r>
            <a:endParaRPr lang="en-GB" sz="20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457200" indent="457200">
              <a:lnSpc>
                <a:spcPts val="1425"/>
              </a:lnSpc>
              <a:spcAft>
                <a:spcPts val="600"/>
              </a:spcAft>
              <a:buNone/>
            </a:pPr>
            <a:r>
              <a:rPr lang="en-GB" sz="2000" dirty="0" err="1">
                <a:solidFill>
                  <a:srgbClr val="D354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servo</a:t>
            </a:r>
            <a:r>
              <a:rPr lang="en-GB" sz="2000" dirty="0" err="1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000" dirty="0" err="1">
                <a:solidFill>
                  <a:srgbClr val="D354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write</a:t>
            </a:r>
            <a:r>
              <a:rPr lang="en-GB" sz="2000" dirty="0">
                <a:solidFill>
                  <a:srgbClr val="434F54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000" dirty="0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GB" sz="2000" dirty="0">
                <a:solidFill>
                  <a:srgbClr val="434F54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sz="2000" dirty="0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GB" sz="20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457200" indent="457200">
              <a:lnSpc>
                <a:spcPts val="1425"/>
              </a:lnSpc>
              <a:spcAft>
                <a:spcPts val="600"/>
              </a:spcAft>
              <a:buNone/>
            </a:pPr>
            <a:r>
              <a:rPr lang="en-GB" sz="2000" dirty="0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GB" sz="20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buFont typeface="+mj-lt"/>
              <a:buAutoNum type="arabicPeriod" startAt="2"/>
            </a:pPr>
            <a:r>
              <a:rPr lang="en-GB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Rotate the servo on a specific trajectory: the servo will be rotated from </a:t>
            </a:r>
            <a:r>
              <a:rPr lang="en-GB" sz="2000" i="1" dirty="0">
                <a:ea typeface="Times New Roman" panose="02020603050405020304" pitchFamily="18" charset="0"/>
                <a:cs typeface="Times New Roman" panose="02020603050405020304" pitchFamily="18" charset="0"/>
              </a:rPr>
              <a:t>x1</a:t>
            </a:r>
            <a:r>
              <a:rPr lang="en-GB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 to </a:t>
            </a:r>
            <a:r>
              <a:rPr lang="en-GB" sz="2000" i="1" dirty="0" err="1">
                <a:ea typeface="Times New Roman" panose="02020603050405020304" pitchFamily="18" charset="0"/>
                <a:cs typeface="Times New Roman" panose="02020603050405020304" pitchFamily="18" charset="0"/>
              </a:rPr>
              <a:t>xn</a:t>
            </a:r>
            <a:r>
              <a:rPr lang="en-GB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 sequentially, where there is a delay of </a:t>
            </a:r>
            <a:r>
              <a:rPr lang="en-GB" sz="2000" i="1" dirty="0"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sz="2000" dirty="0">
                <a:ea typeface="Times New Roman" panose="02020603050405020304" pitchFamily="18" charset="0"/>
                <a:cs typeface="Times New Roman" panose="02020603050405020304" pitchFamily="18" charset="0"/>
              </a:rPr>
              <a:t> milliseconds between every rotation.</a:t>
            </a:r>
            <a:endParaRPr lang="en-GB" sz="20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457200">
              <a:lnSpc>
                <a:spcPts val="1425"/>
              </a:lnSpc>
              <a:spcAft>
                <a:spcPts val="600"/>
              </a:spcAft>
              <a:buNone/>
            </a:pPr>
            <a:r>
              <a:rPr lang="en-GB" sz="2000" dirty="0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GB" sz="20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914400">
              <a:lnSpc>
                <a:spcPts val="1425"/>
              </a:lnSpc>
              <a:spcAft>
                <a:spcPts val="600"/>
              </a:spcAft>
              <a:buNone/>
            </a:pPr>
            <a:r>
              <a:rPr lang="en-GB" sz="2000" dirty="0">
                <a:solidFill>
                  <a:srgbClr val="00979D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GB" sz="2000" dirty="0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angle_trajectory</a:t>
            </a:r>
            <a:r>
              <a:rPr lang="en-GB" sz="2000" dirty="0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= [x1, x2, x3, x4 ... </a:t>
            </a:r>
            <a:r>
              <a:rPr lang="en-GB" sz="2000" dirty="0" err="1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xn</a:t>
            </a:r>
            <a:r>
              <a:rPr lang="en-GB" sz="2000" dirty="0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]; </a:t>
            </a:r>
            <a:endParaRPr lang="en-GB" sz="20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914400">
              <a:lnSpc>
                <a:spcPts val="1425"/>
              </a:lnSpc>
              <a:spcAft>
                <a:spcPts val="600"/>
              </a:spcAft>
              <a:buNone/>
            </a:pPr>
            <a:r>
              <a:rPr lang="en-GB" sz="2000" dirty="0">
                <a:solidFill>
                  <a:srgbClr val="00979D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GB" sz="2000" dirty="0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length = n; </a:t>
            </a:r>
            <a:endParaRPr lang="en-GB" sz="20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914400">
              <a:lnSpc>
                <a:spcPts val="1425"/>
              </a:lnSpc>
              <a:spcAft>
                <a:spcPts val="600"/>
              </a:spcAft>
              <a:buNone/>
            </a:pPr>
            <a:r>
              <a:rPr lang="en-GB" sz="2000" dirty="0">
                <a:solidFill>
                  <a:srgbClr val="728E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for</a:t>
            </a:r>
            <a:r>
              <a:rPr lang="en-GB" sz="2000" dirty="0">
                <a:solidFill>
                  <a:srgbClr val="434F54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000" dirty="0">
                <a:solidFill>
                  <a:srgbClr val="00979D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GB" sz="2000" dirty="0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 err="1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2000" dirty="0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GB" sz="2000" dirty="0">
                <a:solidFill>
                  <a:srgbClr val="005C5F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GB" sz="2000" dirty="0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GB" sz="2000" dirty="0" err="1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2000" dirty="0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 &lt; length; </a:t>
            </a:r>
            <a:r>
              <a:rPr lang="en-GB" sz="2000" dirty="0" err="1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2000" dirty="0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++</a:t>
            </a:r>
            <a:r>
              <a:rPr lang="en-GB" sz="2000" dirty="0">
                <a:solidFill>
                  <a:srgbClr val="434F54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){</a:t>
            </a:r>
            <a:endParaRPr lang="en-GB" sz="20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914400">
              <a:lnSpc>
                <a:spcPts val="1425"/>
              </a:lnSpc>
              <a:spcAft>
                <a:spcPts val="600"/>
              </a:spcAft>
              <a:buNone/>
            </a:pPr>
            <a:r>
              <a:rPr lang="en-GB" sz="2000" dirty="0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GB" sz="2000" dirty="0" err="1">
                <a:solidFill>
                  <a:srgbClr val="D354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servo</a:t>
            </a:r>
            <a:r>
              <a:rPr lang="en-GB" sz="2000" dirty="0" err="1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GB" sz="2000" dirty="0" err="1">
                <a:solidFill>
                  <a:srgbClr val="D354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write</a:t>
            </a:r>
            <a:r>
              <a:rPr lang="en-GB" sz="2000" dirty="0">
                <a:solidFill>
                  <a:srgbClr val="434F54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000" dirty="0" err="1">
                <a:solidFill>
                  <a:srgbClr val="D354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angle_trajectory</a:t>
            </a:r>
            <a:r>
              <a:rPr lang="en-GB" sz="2000" dirty="0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GB" sz="2000" dirty="0" err="1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GB" sz="2000" dirty="0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GB" sz="2000" dirty="0">
                <a:solidFill>
                  <a:srgbClr val="434F54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sz="2000" dirty="0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GB" sz="20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914400">
              <a:lnSpc>
                <a:spcPts val="1425"/>
              </a:lnSpc>
              <a:spcAft>
                <a:spcPts val="600"/>
              </a:spcAft>
              <a:buNone/>
            </a:pPr>
            <a:r>
              <a:rPr lang="en-GB" sz="2000" dirty="0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    </a:t>
            </a:r>
            <a:r>
              <a:rPr lang="en-GB" sz="2000" dirty="0">
                <a:solidFill>
                  <a:srgbClr val="D35400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delay</a:t>
            </a:r>
            <a:r>
              <a:rPr lang="en-GB" sz="2000" dirty="0">
                <a:solidFill>
                  <a:srgbClr val="434F54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sz="2000" dirty="0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GB" sz="2000" dirty="0">
                <a:solidFill>
                  <a:srgbClr val="434F54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sz="2000" dirty="0">
                <a:solidFill>
                  <a:srgbClr val="4E5B61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endParaRPr lang="en-GB" sz="2000" dirty="0"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914400">
              <a:lnSpc>
                <a:spcPts val="1425"/>
              </a:lnSpc>
              <a:spcAft>
                <a:spcPts val="600"/>
              </a:spcAft>
              <a:buNone/>
            </a:pPr>
            <a:r>
              <a:rPr lang="en-GB" sz="2000" dirty="0">
                <a:solidFill>
                  <a:srgbClr val="434F54"/>
                </a:solidFill>
                <a:ea typeface="Times New Roman" panose="02020603050405020304" pitchFamily="18" charset="0"/>
                <a:cs typeface="Times New Roman" panose="02020603050405020304" pitchFamily="18" charset="0"/>
              </a:rPr>
              <a:t>}</a:t>
            </a:r>
            <a:endParaRPr lang="en-GB" sz="2000" dirty="0"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E8E93DF5-B4DB-F608-E6F7-7F27F8BF27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64866"/>
            <a:ext cx="1795182" cy="89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68086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E87D886-CBDC-6864-61FC-C94E3A892CD0}"/>
              </a:ext>
            </a:extLst>
          </p:cNvPr>
          <p:cNvSpPr txBox="1"/>
          <p:nvPr/>
        </p:nvSpPr>
        <p:spPr>
          <a:xfrm>
            <a:off x="6345141" y="552052"/>
            <a:ext cx="527535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2800" b="1" dirty="0">
                <a:latin typeface="Poppins" panose="020B0502040204020203" pitchFamily="2" charset="0"/>
                <a:cs typeface="Poppins" panose="020B0502040204020203" pitchFamily="2" charset="0"/>
              </a:rPr>
              <a:t>Try Tweaking the settings </a:t>
            </a:r>
            <a:r>
              <a:rPr lang="en-GB" sz="2800" b="1" dirty="0">
                <a:latin typeface="Poppins" panose="020B0502040204020203" pitchFamily="2" charset="0"/>
                <a:cs typeface="Poppins" panose="020B0502040204020203" pitchFamily="2" charset="0"/>
                <a:sym typeface="Wingdings" panose="05000000000000000000" pitchFamily="2" charset="2"/>
              </a:rPr>
              <a:t></a:t>
            </a:r>
            <a:endParaRPr lang="en-GB" sz="2800" b="1" dirty="0">
              <a:latin typeface="Poppins" panose="020B0502040204020203" pitchFamily="2" charset="0"/>
              <a:cs typeface="Poppins" panose="020B0502040204020203" pitchFamily="2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5FFA2D-7086-4F2A-AC92-ABF5334E1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9441" y="1464938"/>
            <a:ext cx="7391400" cy="49276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" name="文本框 5">
            <a:extLst>
              <a:ext uri="{FF2B5EF4-FFF2-40B4-BE49-F238E27FC236}">
                <a16:creationId xmlns:a16="http://schemas.microsoft.com/office/drawing/2014/main" id="{8A956D06-83CB-0495-51B7-BB7AF8CFC7BD}"/>
              </a:ext>
            </a:extLst>
          </p:cNvPr>
          <p:cNvSpPr txBox="1"/>
          <p:nvPr/>
        </p:nvSpPr>
        <p:spPr>
          <a:xfrm>
            <a:off x="3314629" y="6488668"/>
            <a:ext cx="5437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/>
              <a:t>This image was generated by ChatGPT on 08/10/2025</a:t>
            </a:r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9477CE2C-9A63-F2E7-AFA2-49AAED02E5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1500" y="364866"/>
            <a:ext cx="1795182" cy="89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902772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958</TotalTime>
  <Words>1528</Words>
  <Application>Microsoft Office PowerPoint</Application>
  <PresentationFormat>Widescreen</PresentationFormat>
  <Paragraphs>218</Paragraphs>
  <Slides>26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6" baseType="lpstr">
      <vt:lpstr>DengXian</vt:lpstr>
      <vt:lpstr>DengXian Light</vt:lpstr>
      <vt:lpstr>Aptos</vt:lpstr>
      <vt:lpstr>Aptos Display</vt:lpstr>
      <vt:lpstr>Arial</vt:lpstr>
      <vt:lpstr>Poppins</vt:lpstr>
      <vt:lpstr>Poppins Medium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Chowdhury, Mohd Abu Anas</dc:creator>
  <cp:lastModifiedBy>Sharratt, Oli</cp:lastModifiedBy>
  <cp:revision>55</cp:revision>
  <dcterms:created xsi:type="dcterms:W3CDTF">2025-10-08T06:21:44Z</dcterms:created>
  <dcterms:modified xsi:type="dcterms:W3CDTF">2025-10-12T11:50:27Z</dcterms:modified>
</cp:coreProperties>
</file>